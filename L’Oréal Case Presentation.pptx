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30"/>
  </p:notesMasterIdLst>
  <p:handoutMasterIdLst>
    <p:handoutMasterId r:id="rId31"/>
  </p:handoutMasterIdLst>
  <p:sldIdLst>
    <p:sldId id="282" r:id="rId5"/>
    <p:sldId id="292" r:id="rId6"/>
    <p:sldId id="283" r:id="rId7"/>
    <p:sldId id="300" r:id="rId8"/>
    <p:sldId id="302" r:id="rId9"/>
    <p:sldId id="301" r:id="rId10"/>
    <p:sldId id="313" r:id="rId11"/>
    <p:sldId id="298" r:id="rId12"/>
    <p:sldId id="309" r:id="rId13"/>
    <p:sldId id="316" r:id="rId14"/>
    <p:sldId id="317" r:id="rId15"/>
    <p:sldId id="318" r:id="rId16"/>
    <p:sldId id="320" r:id="rId17"/>
    <p:sldId id="306" r:id="rId18"/>
    <p:sldId id="307" r:id="rId19"/>
    <p:sldId id="327" r:id="rId20"/>
    <p:sldId id="329" r:id="rId21"/>
    <p:sldId id="299" r:id="rId22"/>
    <p:sldId id="323" r:id="rId23"/>
    <p:sldId id="324" r:id="rId24"/>
    <p:sldId id="325" r:id="rId25"/>
    <p:sldId id="326" r:id="rId26"/>
    <p:sldId id="330" r:id="rId27"/>
    <p:sldId id="331" r:id="rId28"/>
    <p:sldId id="296" r:id="rId29"/>
  </p:sldIdLst>
  <p:sldSz cx="12192000" cy="6858000"/>
  <p:notesSz cx="6858000" cy="12477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39A4D-1D6A-F6AE-9992-DA94F3DEF8F6}" v="6" dt="2020-02-26T20:51:17.367"/>
    <p1510:client id="{230EDAA1-2879-436D-8630-7EF92F542B40}" v="378" dt="2020-02-26T22:22:10.374"/>
    <p1510:client id="{72E90F9E-B968-E827-6C52-673E04A9E1D8}" v="24" dt="2020-02-26T02:07:25.680"/>
    <p1510:client id="{AFF9264D-2910-D248-11BC-01367DA889F5}" v="9" dt="2020-02-26T22:22:20.280"/>
    <p1510:client id="{DD306948-FD89-9B68-A619-9D5C691953A5}" v="2" dt="2020-02-26T00:27:49.795"/>
  </p1510:revLst>
</p1510:revInfo>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35_C586747E.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_13C_18C87B6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_13D_1AA5B410.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_13E_584EAF5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_149_D7524451.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Daily Moisturizers vs. Treatment Moisturizers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 Daily</c:v>
                </c:pt>
              </c:strCache>
            </c:strRef>
          </c:tx>
          <c:spPr>
            <a:solidFill>
              <a:schemeClr val="accent1"/>
            </a:solidFill>
            <a:ln>
              <a:noFill/>
            </a:ln>
            <a:effectLst/>
          </c:spPr>
          <c:invertIfNegative val="0"/>
          <c:cat>
            <c:strRef>
              <c:f>Sheet1!$A$2:$A$7</c:f>
              <c:strCache>
                <c:ptCount val="6"/>
                <c:pt idx="0">
                  <c:v>Alpha-Hydrox</c:v>
                </c:pt>
                <c:pt idx="1">
                  <c:v>Plénitude</c:v>
                </c:pt>
                <c:pt idx="2">
                  <c:v>Pond's</c:v>
                </c:pt>
                <c:pt idx="3">
                  <c:v>Nivea</c:v>
                </c:pt>
                <c:pt idx="4">
                  <c:v>Neutrogena</c:v>
                </c:pt>
                <c:pt idx="5">
                  <c:v>Olay</c:v>
                </c:pt>
              </c:strCache>
            </c:strRef>
          </c:cat>
          <c:val>
            <c:numRef>
              <c:f>Sheet1!$B$2:$B$7</c:f>
              <c:numCache>
                <c:formatCode>0%</c:formatCode>
                <c:ptCount val="6"/>
                <c:pt idx="0">
                  <c:v>0.11</c:v>
                </c:pt>
                <c:pt idx="1">
                  <c:v>0.35</c:v>
                </c:pt>
                <c:pt idx="2">
                  <c:v>0.51</c:v>
                </c:pt>
                <c:pt idx="3">
                  <c:v>0.73</c:v>
                </c:pt>
                <c:pt idx="4">
                  <c:v>0.78</c:v>
                </c:pt>
                <c:pt idx="5">
                  <c:v>0.88</c:v>
                </c:pt>
              </c:numCache>
            </c:numRef>
          </c:val>
          <c:extLst>
            <c:ext xmlns:c16="http://schemas.microsoft.com/office/drawing/2014/chart" uri="{C3380CC4-5D6E-409C-BE32-E72D297353CC}">
              <c16:uniqueId val="{00000000-2997-4081-B8CB-925448D79816}"/>
            </c:ext>
          </c:extLst>
        </c:ser>
        <c:ser>
          <c:idx val="1"/>
          <c:order val="1"/>
          <c:tx>
            <c:strRef>
              <c:f>Sheet1!$C$1</c:f>
              <c:strCache>
                <c:ptCount val="1"/>
                <c:pt idx="0">
                  <c:v>% Treatment</c:v>
                </c:pt>
              </c:strCache>
            </c:strRef>
          </c:tx>
          <c:spPr>
            <a:solidFill>
              <a:schemeClr val="accent2"/>
            </a:solidFill>
            <a:ln>
              <a:noFill/>
            </a:ln>
            <a:effectLst/>
          </c:spPr>
          <c:invertIfNegative val="0"/>
          <c:cat>
            <c:strRef>
              <c:f>Sheet1!$A$2:$A$7</c:f>
              <c:strCache>
                <c:ptCount val="6"/>
                <c:pt idx="0">
                  <c:v>Alpha-Hydrox</c:v>
                </c:pt>
                <c:pt idx="1">
                  <c:v>Plénitude</c:v>
                </c:pt>
                <c:pt idx="2">
                  <c:v>Pond's</c:v>
                </c:pt>
                <c:pt idx="3">
                  <c:v>Nivea</c:v>
                </c:pt>
                <c:pt idx="4">
                  <c:v>Neutrogena</c:v>
                </c:pt>
                <c:pt idx="5">
                  <c:v>Olay</c:v>
                </c:pt>
              </c:strCache>
            </c:strRef>
          </c:cat>
          <c:val>
            <c:numRef>
              <c:f>Sheet1!$C$2:$C$7</c:f>
              <c:numCache>
                <c:formatCode>0%</c:formatCode>
                <c:ptCount val="6"/>
                <c:pt idx="0">
                  <c:v>0.89</c:v>
                </c:pt>
                <c:pt idx="1">
                  <c:v>0.65</c:v>
                </c:pt>
                <c:pt idx="2">
                  <c:v>0.49</c:v>
                </c:pt>
                <c:pt idx="3">
                  <c:v>0.27</c:v>
                </c:pt>
                <c:pt idx="4">
                  <c:v>0.22</c:v>
                </c:pt>
                <c:pt idx="5">
                  <c:v>0.12</c:v>
                </c:pt>
              </c:numCache>
            </c:numRef>
          </c:val>
          <c:extLst>
            <c:ext xmlns:c16="http://schemas.microsoft.com/office/drawing/2014/chart" uri="{C3380CC4-5D6E-409C-BE32-E72D297353CC}">
              <c16:uniqueId val="{00000001-2997-4081-B8CB-925448D79816}"/>
            </c:ext>
          </c:extLst>
        </c:ser>
        <c:dLbls>
          <c:showLegendKey val="0"/>
          <c:showVal val="0"/>
          <c:showCatName val="0"/>
          <c:showSerName val="0"/>
          <c:showPercent val="0"/>
          <c:showBubbleSize val="0"/>
        </c:dLbls>
        <c:gapWidth val="150"/>
        <c:overlap val="100"/>
        <c:axId val="756182024"/>
        <c:axId val="756183992"/>
      </c:barChart>
      <c:catAx>
        <c:axId val="7561820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6183992"/>
        <c:crosses val="autoZero"/>
        <c:auto val="1"/>
        <c:lblAlgn val="ctr"/>
        <c:lblOffset val="100"/>
        <c:noMultiLvlLbl val="0"/>
      </c:catAx>
      <c:valAx>
        <c:axId val="756183992"/>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61820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Moisturizers Market Size</c:v>
                </c:pt>
              </c:strCache>
            </c:strRef>
          </c:tx>
          <c:spPr>
            <a:ln w="28575" cap="rnd">
              <a:solidFill>
                <a:schemeClr val="accent1"/>
              </a:solidFill>
              <a:round/>
            </a:ln>
            <a:effectLst/>
          </c:spPr>
          <c:marker>
            <c:symbol val="none"/>
          </c:marker>
          <c:cat>
            <c:numRef>
              <c:f>Sheet1!$A$2:$A$6</c:f>
              <c:numCache>
                <c:formatCode>General</c:formatCode>
                <c:ptCount val="5"/>
                <c:pt idx="0">
                  <c:v>1991</c:v>
                </c:pt>
                <c:pt idx="1">
                  <c:v>1992</c:v>
                </c:pt>
                <c:pt idx="2">
                  <c:v>1993</c:v>
                </c:pt>
                <c:pt idx="3">
                  <c:v>1994</c:v>
                </c:pt>
                <c:pt idx="4">
                  <c:v>1995</c:v>
                </c:pt>
              </c:numCache>
            </c:numRef>
          </c:cat>
          <c:val>
            <c:numRef>
              <c:f>Sheet1!$B$2:$B$6</c:f>
              <c:numCache>
                <c:formatCode>General</c:formatCode>
                <c:ptCount val="5"/>
                <c:pt idx="0">
                  <c:v>309</c:v>
                </c:pt>
                <c:pt idx="1">
                  <c:v>338</c:v>
                </c:pt>
                <c:pt idx="2">
                  <c:v>375</c:v>
                </c:pt>
                <c:pt idx="3">
                  <c:v>440</c:v>
                </c:pt>
                <c:pt idx="4">
                  <c:v>471</c:v>
                </c:pt>
              </c:numCache>
            </c:numRef>
          </c:val>
          <c:smooth val="0"/>
          <c:extLst>
            <c:ext xmlns:c16="http://schemas.microsoft.com/office/drawing/2014/chart" uri="{C3380CC4-5D6E-409C-BE32-E72D297353CC}">
              <c16:uniqueId val="{00000000-49CB-4ED2-A91A-35475121E567}"/>
            </c:ext>
          </c:extLst>
        </c:ser>
        <c:dLbls>
          <c:showLegendKey val="0"/>
          <c:showVal val="0"/>
          <c:showCatName val="0"/>
          <c:showSerName val="0"/>
          <c:showPercent val="0"/>
          <c:showBubbleSize val="0"/>
        </c:dLbls>
        <c:smooth val="0"/>
        <c:axId val="705955688"/>
        <c:axId val="705954704"/>
      </c:lineChart>
      <c:catAx>
        <c:axId val="705955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954704"/>
        <c:crosses val="autoZero"/>
        <c:auto val="1"/>
        <c:lblAlgn val="ctr"/>
        <c:lblOffset val="100"/>
        <c:noMultiLvlLbl val="0"/>
      </c:catAx>
      <c:valAx>
        <c:axId val="7059547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955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1991</c:v>
                </c:pt>
              </c:strCache>
            </c:strRef>
          </c:tx>
          <c:spPr>
            <a:solidFill>
              <a:schemeClr val="accent1"/>
            </a:solidFill>
            <a:ln>
              <a:noFill/>
            </a:ln>
            <a:effectLst/>
          </c:spPr>
          <c:invertIfNegative val="0"/>
          <c:cat>
            <c:strRef>
              <c:f>Sheet1!$A$2:$A$8</c:f>
              <c:strCache>
                <c:ptCount val="7"/>
                <c:pt idx="0">
                  <c:v>Plénitude</c:v>
                </c:pt>
                <c:pt idx="1">
                  <c:v>Olay</c:v>
                </c:pt>
                <c:pt idx="2">
                  <c:v>Almay</c:v>
                </c:pt>
                <c:pt idx="3">
                  <c:v>Nivea</c:v>
                </c:pt>
                <c:pt idx="4">
                  <c:v>Ponds</c:v>
                </c:pt>
                <c:pt idx="5">
                  <c:v>Alpha-Hydrox</c:v>
                </c:pt>
                <c:pt idx="6">
                  <c:v>Neutrogena</c:v>
                </c:pt>
              </c:strCache>
            </c:strRef>
          </c:cat>
          <c:val>
            <c:numRef>
              <c:f>Sheet1!$B$2:$B$8</c:f>
              <c:numCache>
                <c:formatCode>0.0;[Red]0.0</c:formatCode>
                <c:ptCount val="7"/>
                <c:pt idx="0">
                  <c:v>11.7</c:v>
                </c:pt>
                <c:pt idx="1">
                  <c:v>38.299999999999997</c:v>
                </c:pt>
                <c:pt idx="2">
                  <c:v>5.4</c:v>
                </c:pt>
                <c:pt idx="3">
                  <c:v>4.8</c:v>
                </c:pt>
                <c:pt idx="4">
                  <c:v>5</c:v>
                </c:pt>
                <c:pt idx="5" formatCode="General">
                  <c:v>0</c:v>
                </c:pt>
                <c:pt idx="6">
                  <c:v>7</c:v>
                </c:pt>
              </c:numCache>
            </c:numRef>
          </c:val>
          <c:extLst>
            <c:ext xmlns:c16="http://schemas.microsoft.com/office/drawing/2014/chart" uri="{C3380CC4-5D6E-409C-BE32-E72D297353CC}">
              <c16:uniqueId val="{00000000-49CB-4ED2-A91A-35475121E567}"/>
            </c:ext>
          </c:extLst>
        </c:ser>
        <c:ser>
          <c:idx val="1"/>
          <c:order val="1"/>
          <c:tx>
            <c:strRef>
              <c:f>Sheet1!$C$1</c:f>
              <c:strCache>
                <c:ptCount val="1"/>
                <c:pt idx="0">
                  <c:v>1992</c:v>
                </c:pt>
              </c:strCache>
            </c:strRef>
          </c:tx>
          <c:spPr>
            <a:solidFill>
              <a:schemeClr val="accent2"/>
            </a:solidFill>
            <a:ln>
              <a:noFill/>
            </a:ln>
            <a:effectLst/>
          </c:spPr>
          <c:invertIfNegative val="0"/>
          <c:cat>
            <c:strRef>
              <c:f>Sheet1!$A$2:$A$8</c:f>
              <c:strCache>
                <c:ptCount val="7"/>
                <c:pt idx="0">
                  <c:v>Plénitude</c:v>
                </c:pt>
                <c:pt idx="1">
                  <c:v>Olay</c:v>
                </c:pt>
                <c:pt idx="2">
                  <c:v>Almay</c:v>
                </c:pt>
                <c:pt idx="3">
                  <c:v>Nivea</c:v>
                </c:pt>
                <c:pt idx="4">
                  <c:v>Ponds</c:v>
                </c:pt>
                <c:pt idx="5">
                  <c:v>Alpha-Hydrox</c:v>
                </c:pt>
                <c:pt idx="6">
                  <c:v>Neutrogena</c:v>
                </c:pt>
              </c:strCache>
            </c:strRef>
          </c:cat>
          <c:val>
            <c:numRef>
              <c:f>Sheet1!$C$2:$C$8</c:f>
              <c:numCache>
                <c:formatCode>0.0;[Red]0.0</c:formatCode>
                <c:ptCount val="7"/>
                <c:pt idx="0">
                  <c:v>13.6</c:v>
                </c:pt>
                <c:pt idx="1">
                  <c:v>36.1</c:v>
                </c:pt>
                <c:pt idx="2">
                  <c:v>6</c:v>
                </c:pt>
                <c:pt idx="3">
                  <c:v>5.5</c:v>
                </c:pt>
                <c:pt idx="4">
                  <c:v>4.5999999999999996</c:v>
                </c:pt>
                <c:pt idx="5">
                  <c:v>1</c:v>
                </c:pt>
                <c:pt idx="6">
                  <c:v>6.5</c:v>
                </c:pt>
              </c:numCache>
            </c:numRef>
          </c:val>
          <c:extLst>
            <c:ext xmlns:c16="http://schemas.microsoft.com/office/drawing/2014/chart" uri="{C3380CC4-5D6E-409C-BE32-E72D297353CC}">
              <c16:uniqueId val="{00000000-E20B-4168-A4E8-FF9F9379FC0F}"/>
            </c:ext>
          </c:extLst>
        </c:ser>
        <c:ser>
          <c:idx val="2"/>
          <c:order val="2"/>
          <c:tx>
            <c:strRef>
              <c:f>Sheet1!$D$1</c:f>
              <c:strCache>
                <c:ptCount val="1"/>
                <c:pt idx="0">
                  <c:v>1993</c:v>
                </c:pt>
              </c:strCache>
            </c:strRef>
          </c:tx>
          <c:spPr>
            <a:solidFill>
              <a:schemeClr val="accent3"/>
            </a:solidFill>
            <a:ln>
              <a:noFill/>
            </a:ln>
            <a:effectLst/>
          </c:spPr>
          <c:invertIfNegative val="0"/>
          <c:cat>
            <c:strRef>
              <c:f>Sheet1!$A$2:$A$8</c:f>
              <c:strCache>
                <c:ptCount val="7"/>
                <c:pt idx="0">
                  <c:v>Plénitude</c:v>
                </c:pt>
                <c:pt idx="1">
                  <c:v>Olay</c:v>
                </c:pt>
                <c:pt idx="2">
                  <c:v>Almay</c:v>
                </c:pt>
                <c:pt idx="3">
                  <c:v>Nivea</c:v>
                </c:pt>
                <c:pt idx="4">
                  <c:v>Ponds</c:v>
                </c:pt>
                <c:pt idx="5">
                  <c:v>Alpha-Hydrox</c:v>
                </c:pt>
                <c:pt idx="6">
                  <c:v>Neutrogena</c:v>
                </c:pt>
              </c:strCache>
            </c:strRef>
          </c:cat>
          <c:val>
            <c:numRef>
              <c:f>Sheet1!$D$2:$D$8</c:f>
              <c:numCache>
                <c:formatCode>0.0;[Red]0.0</c:formatCode>
                <c:ptCount val="7"/>
                <c:pt idx="0">
                  <c:v>14.1</c:v>
                </c:pt>
                <c:pt idx="1">
                  <c:v>32.299999999999997</c:v>
                </c:pt>
                <c:pt idx="2">
                  <c:v>5.6</c:v>
                </c:pt>
                <c:pt idx="3">
                  <c:v>6</c:v>
                </c:pt>
                <c:pt idx="4">
                  <c:v>9.1</c:v>
                </c:pt>
                <c:pt idx="5">
                  <c:v>3.8</c:v>
                </c:pt>
                <c:pt idx="6">
                  <c:v>5.7</c:v>
                </c:pt>
              </c:numCache>
            </c:numRef>
          </c:val>
          <c:extLst>
            <c:ext xmlns:c16="http://schemas.microsoft.com/office/drawing/2014/chart" uri="{C3380CC4-5D6E-409C-BE32-E72D297353CC}">
              <c16:uniqueId val="{00000001-E20B-4168-A4E8-FF9F9379FC0F}"/>
            </c:ext>
          </c:extLst>
        </c:ser>
        <c:ser>
          <c:idx val="3"/>
          <c:order val="3"/>
          <c:tx>
            <c:strRef>
              <c:f>Sheet1!$E$1</c:f>
              <c:strCache>
                <c:ptCount val="1"/>
                <c:pt idx="0">
                  <c:v>1994</c:v>
                </c:pt>
              </c:strCache>
            </c:strRef>
          </c:tx>
          <c:spPr>
            <a:solidFill>
              <a:schemeClr val="accent4"/>
            </a:solidFill>
            <a:ln>
              <a:noFill/>
            </a:ln>
            <a:effectLst/>
          </c:spPr>
          <c:invertIfNegative val="0"/>
          <c:cat>
            <c:strRef>
              <c:f>Sheet1!$A$2:$A$8</c:f>
              <c:strCache>
                <c:ptCount val="7"/>
                <c:pt idx="0">
                  <c:v>Plénitude</c:v>
                </c:pt>
                <c:pt idx="1">
                  <c:v>Olay</c:v>
                </c:pt>
                <c:pt idx="2">
                  <c:v>Almay</c:v>
                </c:pt>
                <c:pt idx="3">
                  <c:v>Nivea</c:v>
                </c:pt>
                <c:pt idx="4">
                  <c:v>Ponds</c:v>
                </c:pt>
                <c:pt idx="5">
                  <c:v>Alpha-Hydrox</c:v>
                </c:pt>
                <c:pt idx="6">
                  <c:v>Neutrogena</c:v>
                </c:pt>
              </c:strCache>
            </c:strRef>
          </c:cat>
          <c:val>
            <c:numRef>
              <c:f>Sheet1!$E$2:$E$8</c:f>
              <c:numCache>
                <c:formatCode>0.0;[Red]0.0</c:formatCode>
                <c:ptCount val="7"/>
                <c:pt idx="0">
                  <c:v>13.8</c:v>
                </c:pt>
                <c:pt idx="1">
                  <c:v>29.7</c:v>
                </c:pt>
                <c:pt idx="2">
                  <c:v>4.4000000000000004</c:v>
                </c:pt>
                <c:pt idx="3">
                  <c:v>6.2</c:v>
                </c:pt>
                <c:pt idx="4">
                  <c:v>13.9</c:v>
                </c:pt>
                <c:pt idx="5">
                  <c:v>5.7</c:v>
                </c:pt>
                <c:pt idx="6">
                  <c:v>4.8</c:v>
                </c:pt>
              </c:numCache>
            </c:numRef>
          </c:val>
          <c:extLst>
            <c:ext xmlns:c16="http://schemas.microsoft.com/office/drawing/2014/chart" uri="{C3380CC4-5D6E-409C-BE32-E72D297353CC}">
              <c16:uniqueId val="{00000002-E20B-4168-A4E8-FF9F9379FC0F}"/>
            </c:ext>
          </c:extLst>
        </c:ser>
        <c:ser>
          <c:idx val="4"/>
          <c:order val="4"/>
          <c:tx>
            <c:strRef>
              <c:f>Sheet1!$F$1</c:f>
              <c:strCache>
                <c:ptCount val="1"/>
                <c:pt idx="0">
                  <c:v>1995</c:v>
                </c:pt>
              </c:strCache>
            </c:strRef>
          </c:tx>
          <c:spPr>
            <a:solidFill>
              <a:schemeClr val="accent5"/>
            </a:solidFill>
            <a:ln>
              <a:noFill/>
            </a:ln>
            <a:effectLst/>
          </c:spPr>
          <c:invertIfNegative val="0"/>
          <c:cat>
            <c:strRef>
              <c:f>Sheet1!$A$2:$A$8</c:f>
              <c:strCache>
                <c:ptCount val="7"/>
                <c:pt idx="0">
                  <c:v>Plénitude</c:v>
                </c:pt>
                <c:pt idx="1">
                  <c:v>Olay</c:v>
                </c:pt>
                <c:pt idx="2">
                  <c:v>Almay</c:v>
                </c:pt>
                <c:pt idx="3">
                  <c:v>Nivea</c:v>
                </c:pt>
                <c:pt idx="4">
                  <c:v>Ponds</c:v>
                </c:pt>
                <c:pt idx="5">
                  <c:v>Alpha-Hydrox</c:v>
                </c:pt>
                <c:pt idx="6">
                  <c:v>Neutrogena</c:v>
                </c:pt>
              </c:strCache>
            </c:strRef>
          </c:cat>
          <c:val>
            <c:numRef>
              <c:f>Sheet1!$F$2:$F$8</c:f>
              <c:numCache>
                <c:formatCode>0.0;[Red]0.0</c:formatCode>
                <c:ptCount val="7"/>
                <c:pt idx="0">
                  <c:v>14</c:v>
                </c:pt>
                <c:pt idx="1">
                  <c:v>28.2</c:v>
                </c:pt>
                <c:pt idx="2">
                  <c:v>4.5999999999999996</c:v>
                </c:pt>
                <c:pt idx="3">
                  <c:v>6.2</c:v>
                </c:pt>
                <c:pt idx="4">
                  <c:v>15.1</c:v>
                </c:pt>
                <c:pt idx="5">
                  <c:v>5.4</c:v>
                </c:pt>
                <c:pt idx="6">
                  <c:v>5.2</c:v>
                </c:pt>
              </c:numCache>
            </c:numRef>
          </c:val>
          <c:extLst>
            <c:ext xmlns:c16="http://schemas.microsoft.com/office/drawing/2014/chart" uri="{C3380CC4-5D6E-409C-BE32-E72D297353CC}">
              <c16:uniqueId val="{00000003-E20B-4168-A4E8-FF9F9379FC0F}"/>
            </c:ext>
          </c:extLst>
        </c:ser>
        <c:dLbls>
          <c:showLegendKey val="0"/>
          <c:showVal val="0"/>
          <c:showCatName val="0"/>
          <c:showSerName val="0"/>
          <c:showPercent val="0"/>
          <c:showBubbleSize val="0"/>
        </c:dLbls>
        <c:gapWidth val="150"/>
        <c:axId val="705955688"/>
        <c:axId val="705954704"/>
      </c:barChart>
      <c:catAx>
        <c:axId val="705955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954704"/>
        <c:crosses val="autoZero"/>
        <c:auto val="1"/>
        <c:lblAlgn val="ctr"/>
        <c:lblOffset val="100"/>
        <c:noMultiLvlLbl val="0"/>
      </c:catAx>
      <c:valAx>
        <c:axId val="705954704"/>
        <c:scaling>
          <c:orientation val="minMax"/>
        </c:scaling>
        <c:delete val="0"/>
        <c:axPos val="l"/>
        <c:majorGridlines>
          <c:spPr>
            <a:ln w="9525" cap="flat" cmpd="sng" algn="ctr">
              <a:solidFill>
                <a:schemeClr val="tx1">
                  <a:lumMod val="15000"/>
                  <a:lumOff val="85000"/>
                </a:schemeClr>
              </a:solidFill>
              <a:round/>
            </a:ln>
            <a:effectLst/>
          </c:spPr>
        </c:majorGridlines>
        <c:numFmt formatCode="0.0;[Red]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955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Aware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Sheet1!$A$2:$A$12</c:f>
              <c:strCache>
                <c:ptCount val="11"/>
                <c:pt idx="0">
                  <c:v>Oil of Olay</c:v>
                </c:pt>
                <c:pt idx="1">
                  <c:v>Pond's</c:v>
                </c:pt>
                <c:pt idx="2">
                  <c:v>Estée Lauder</c:v>
                </c:pt>
                <c:pt idx="3">
                  <c:v>Mary Kay</c:v>
                </c:pt>
                <c:pt idx="4">
                  <c:v>Avon</c:v>
                </c:pt>
                <c:pt idx="5">
                  <c:v>Revlon</c:v>
                </c:pt>
                <c:pt idx="6">
                  <c:v>Clinique</c:v>
                </c:pt>
                <c:pt idx="7">
                  <c:v>L'Oréal Plénitude</c:v>
                </c:pt>
                <c:pt idx="8">
                  <c:v>Nivea/Nivea Visage</c:v>
                </c:pt>
                <c:pt idx="9">
                  <c:v>Lancome</c:v>
                </c:pt>
                <c:pt idx="10">
                  <c:v>Alpha Hydrox</c:v>
                </c:pt>
              </c:strCache>
            </c:strRef>
          </c:cat>
          <c:val>
            <c:numRef>
              <c:f>Sheet1!$B$2:$B$12</c:f>
              <c:numCache>
                <c:formatCode>General</c:formatCode>
                <c:ptCount val="11"/>
                <c:pt idx="0">
                  <c:v>96</c:v>
                </c:pt>
                <c:pt idx="1">
                  <c:v>93</c:v>
                </c:pt>
                <c:pt idx="2">
                  <c:v>92</c:v>
                </c:pt>
                <c:pt idx="3">
                  <c:v>92</c:v>
                </c:pt>
                <c:pt idx="4">
                  <c:v>91</c:v>
                </c:pt>
                <c:pt idx="5">
                  <c:v>90</c:v>
                </c:pt>
                <c:pt idx="6">
                  <c:v>82</c:v>
                </c:pt>
                <c:pt idx="7">
                  <c:v>78</c:v>
                </c:pt>
                <c:pt idx="8">
                  <c:v>76</c:v>
                </c:pt>
                <c:pt idx="9">
                  <c:v>71</c:v>
                </c:pt>
                <c:pt idx="10">
                  <c:v>66</c:v>
                </c:pt>
              </c:numCache>
            </c:numRef>
          </c:val>
          <c:smooth val="0"/>
          <c:extLst>
            <c:ext xmlns:c16="http://schemas.microsoft.com/office/drawing/2014/chart" uri="{C3380CC4-5D6E-409C-BE32-E72D297353CC}">
              <c16:uniqueId val="{00000000-4417-49B0-AFCC-F6B14761ECA3}"/>
            </c:ext>
          </c:extLst>
        </c:ser>
        <c:ser>
          <c:idx val="1"/>
          <c:order val="1"/>
          <c:tx>
            <c:strRef>
              <c:f>Sheet1!$C$1</c:f>
              <c:strCache>
                <c:ptCount val="1"/>
                <c:pt idx="0">
                  <c:v>% Ever Tried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Sheet1!$A$2:$A$12</c:f>
              <c:strCache>
                <c:ptCount val="11"/>
                <c:pt idx="0">
                  <c:v>Oil of Olay</c:v>
                </c:pt>
                <c:pt idx="1">
                  <c:v>Pond's</c:v>
                </c:pt>
                <c:pt idx="2">
                  <c:v>Estée Lauder</c:v>
                </c:pt>
                <c:pt idx="3">
                  <c:v>Mary Kay</c:v>
                </c:pt>
                <c:pt idx="4">
                  <c:v>Avon</c:v>
                </c:pt>
                <c:pt idx="5">
                  <c:v>Revlon</c:v>
                </c:pt>
                <c:pt idx="6">
                  <c:v>Clinique</c:v>
                </c:pt>
                <c:pt idx="7">
                  <c:v>L'Oréal Plénitude</c:v>
                </c:pt>
                <c:pt idx="8">
                  <c:v>Nivea/Nivea Visage</c:v>
                </c:pt>
                <c:pt idx="9">
                  <c:v>Lancome</c:v>
                </c:pt>
                <c:pt idx="10">
                  <c:v>Alpha Hydrox</c:v>
                </c:pt>
              </c:strCache>
            </c:strRef>
          </c:cat>
          <c:val>
            <c:numRef>
              <c:f>Sheet1!$C$2:$C$12</c:f>
              <c:numCache>
                <c:formatCode>General</c:formatCode>
                <c:ptCount val="11"/>
                <c:pt idx="0">
                  <c:v>77</c:v>
                </c:pt>
                <c:pt idx="1">
                  <c:v>52</c:v>
                </c:pt>
                <c:pt idx="2">
                  <c:v>35</c:v>
                </c:pt>
                <c:pt idx="3">
                  <c:v>48</c:v>
                </c:pt>
                <c:pt idx="4">
                  <c:v>68</c:v>
                </c:pt>
                <c:pt idx="5">
                  <c:v>35</c:v>
                </c:pt>
                <c:pt idx="6">
                  <c:v>38</c:v>
                </c:pt>
                <c:pt idx="7">
                  <c:v>23</c:v>
                </c:pt>
                <c:pt idx="8">
                  <c:v>26</c:v>
                </c:pt>
                <c:pt idx="9">
                  <c:v>17</c:v>
                </c:pt>
                <c:pt idx="10">
                  <c:v>12</c:v>
                </c:pt>
              </c:numCache>
            </c:numRef>
          </c:val>
          <c:smooth val="0"/>
          <c:extLst>
            <c:ext xmlns:c16="http://schemas.microsoft.com/office/drawing/2014/chart" uri="{C3380CC4-5D6E-409C-BE32-E72D297353CC}">
              <c16:uniqueId val="{00000001-4417-49B0-AFCC-F6B14761ECA3}"/>
            </c:ext>
          </c:extLst>
        </c:ser>
        <c:ser>
          <c:idx val="2"/>
          <c:order val="2"/>
          <c:tx>
            <c:strRef>
              <c:f>Sheet1!$D$1</c:f>
              <c:strCache>
                <c:ptCount val="1"/>
                <c:pt idx="0">
                  <c:v>Conversion Ratio: Awareness to Trial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Sheet1!$A$2:$A$12</c:f>
              <c:strCache>
                <c:ptCount val="11"/>
                <c:pt idx="0">
                  <c:v>Oil of Olay</c:v>
                </c:pt>
                <c:pt idx="1">
                  <c:v>Pond's</c:v>
                </c:pt>
                <c:pt idx="2">
                  <c:v>Estée Lauder</c:v>
                </c:pt>
                <c:pt idx="3">
                  <c:v>Mary Kay</c:v>
                </c:pt>
                <c:pt idx="4">
                  <c:v>Avon</c:v>
                </c:pt>
                <c:pt idx="5">
                  <c:v>Revlon</c:v>
                </c:pt>
                <c:pt idx="6">
                  <c:v>Clinique</c:v>
                </c:pt>
                <c:pt idx="7">
                  <c:v>L'Oréal Plénitude</c:v>
                </c:pt>
                <c:pt idx="8">
                  <c:v>Nivea/Nivea Visage</c:v>
                </c:pt>
                <c:pt idx="9">
                  <c:v>Lancome</c:v>
                </c:pt>
                <c:pt idx="10">
                  <c:v>Alpha Hydrox</c:v>
                </c:pt>
              </c:strCache>
            </c:strRef>
          </c:cat>
          <c:val>
            <c:numRef>
              <c:f>Sheet1!$D$2:$D$12</c:f>
              <c:numCache>
                <c:formatCode>General</c:formatCode>
                <c:ptCount val="11"/>
                <c:pt idx="0">
                  <c:v>80</c:v>
                </c:pt>
                <c:pt idx="1">
                  <c:v>56</c:v>
                </c:pt>
                <c:pt idx="2">
                  <c:v>38</c:v>
                </c:pt>
                <c:pt idx="3">
                  <c:v>52</c:v>
                </c:pt>
                <c:pt idx="4">
                  <c:v>75</c:v>
                </c:pt>
                <c:pt idx="5">
                  <c:v>39</c:v>
                </c:pt>
                <c:pt idx="6">
                  <c:v>46</c:v>
                </c:pt>
                <c:pt idx="7">
                  <c:v>29</c:v>
                </c:pt>
                <c:pt idx="8">
                  <c:v>34</c:v>
                </c:pt>
                <c:pt idx="9">
                  <c:v>24</c:v>
                </c:pt>
                <c:pt idx="10">
                  <c:v>18</c:v>
                </c:pt>
              </c:numCache>
            </c:numRef>
          </c:val>
          <c:smooth val="0"/>
          <c:extLst>
            <c:ext xmlns:c16="http://schemas.microsoft.com/office/drawing/2014/chart" uri="{C3380CC4-5D6E-409C-BE32-E72D297353CC}">
              <c16:uniqueId val="{00000002-4417-49B0-AFCC-F6B14761ECA3}"/>
            </c:ext>
          </c:extLst>
        </c:ser>
        <c:dLbls>
          <c:showLegendKey val="0"/>
          <c:showVal val="0"/>
          <c:showCatName val="0"/>
          <c:showSerName val="0"/>
          <c:showPercent val="0"/>
          <c:showBubbleSize val="0"/>
        </c:dLbls>
        <c:marker val="1"/>
        <c:smooth val="0"/>
        <c:axId val="754799728"/>
        <c:axId val="754792840"/>
      </c:lineChart>
      <c:catAx>
        <c:axId val="75479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4792840"/>
        <c:crosses val="autoZero"/>
        <c:auto val="1"/>
        <c:lblAlgn val="ctr"/>
        <c:lblOffset val="100"/>
        <c:noMultiLvlLbl val="0"/>
      </c:catAx>
      <c:valAx>
        <c:axId val="754792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4799728"/>
        <c:crosses val="autoZero"/>
        <c:crossBetween val="between"/>
      </c:valAx>
      <c:spPr>
        <a:noFill/>
        <a:ln>
          <a:noFill/>
        </a:ln>
        <a:effectLst/>
      </c:spPr>
    </c:plotArea>
    <c:legend>
      <c:legendPos val="b"/>
      <c:layout>
        <c:manualLayout>
          <c:xMode val="edge"/>
          <c:yMode val="edge"/>
          <c:x val="0.17466884140819383"/>
          <c:y val="0.90337809638279076"/>
          <c:w val="0.71840518148633392"/>
          <c:h val="8.146349828145060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97678092806791E-2"/>
          <c:y val="3.5238694107442473E-2"/>
          <c:w val="0.89646088494864529"/>
          <c:h val="0.92787634906524286"/>
        </c:manualLayout>
      </c:layout>
      <c:doughnutChart>
        <c:varyColors val="1"/>
        <c:ser>
          <c:idx val="0"/>
          <c:order val="0"/>
          <c:tx>
            <c:strRef>
              <c:f>Sheet1!$B$1</c:f>
              <c:strCache>
                <c:ptCount val="1"/>
                <c:pt idx="0">
                  <c:v>Sales</c:v>
                </c:pt>
              </c:strCache>
            </c:strRef>
          </c:tx>
          <c:spPr>
            <a:solidFill>
              <a:schemeClr val="lt1"/>
            </a:solidFill>
            <a:ln w="19050">
              <a:solidFill>
                <a:schemeClr val="accent1"/>
              </a:solidFill>
            </a:ln>
            <a:effectLst/>
          </c:spPr>
          <c:dPt>
            <c:idx val="0"/>
            <c:bubble3D val="0"/>
            <c:spPr>
              <a:solidFill>
                <a:schemeClr val="lt1"/>
              </a:solidFill>
              <a:ln w="19050">
                <a:solidFill>
                  <a:schemeClr val="accent1"/>
                </a:solidFill>
              </a:ln>
              <a:effectLst/>
            </c:spPr>
            <c:extLst>
              <c:ext xmlns:c16="http://schemas.microsoft.com/office/drawing/2014/chart" uri="{C3380CC4-5D6E-409C-BE32-E72D297353CC}">
                <c16:uniqueId val="{00000001-140E-4BC2-864D-E1B3275FDC42}"/>
              </c:ext>
            </c:extLst>
          </c:dPt>
          <c:dPt>
            <c:idx val="1"/>
            <c:bubble3D val="0"/>
            <c:spPr>
              <a:solidFill>
                <a:schemeClr val="lt1"/>
              </a:solidFill>
              <a:ln w="19050">
                <a:solidFill>
                  <a:schemeClr val="accent1"/>
                </a:solidFill>
              </a:ln>
              <a:effectLst/>
            </c:spPr>
            <c:extLst>
              <c:ext xmlns:c16="http://schemas.microsoft.com/office/drawing/2014/chart" uri="{C3380CC4-5D6E-409C-BE32-E72D297353CC}">
                <c16:uniqueId val="{00000003-140E-4BC2-864D-E1B3275FDC42}"/>
              </c:ext>
            </c:extLst>
          </c:dPt>
          <c:dPt>
            <c:idx val="2"/>
            <c:bubble3D val="0"/>
            <c:spPr>
              <a:solidFill>
                <a:schemeClr val="lt1"/>
              </a:solidFill>
              <a:ln w="19050">
                <a:solidFill>
                  <a:schemeClr val="accent1"/>
                </a:solidFill>
              </a:ln>
              <a:effectLst/>
            </c:spPr>
            <c:extLst>
              <c:ext xmlns:c16="http://schemas.microsoft.com/office/drawing/2014/chart" uri="{C3380CC4-5D6E-409C-BE32-E72D297353CC}">
                <c16:uniqueId val="{00000005-140E-4BC2-864D-E1B3275FDC42}"/>
              </c:ext>
            </c:extLst>
          </c:dPt>
          <c:dPt>
            <c:idx val="3"/>
            <c:bubble3D val="0"/>
            <c:spPr>
              <a:solidFill>
                <a:schemeClr val="lt1"/>
              </a:solidFill>
              <a:ln w="19050">
                <a:solidFill>
                  <a:schemeClr val="accent1"/>
                </a:solidFill>
              </a:ln>
              <a:effectLst/>
            </c:spPr>
            <c:extLst>
              <c:ext xmlns:c16="http://schemas.microsoft.com/office/drawing/2014/chart" uri="{C3380CC4-5D6E-409C-BE32-E72D297353CC}">
                <c16:uniqueId val="{00000007-140E-4BC2-864D-E1B3275FDC42}"/>
              </c:ext>
            </c:extLst>
          </c:dPt>
          <c:dPt>
            <c:idx val="4"/>
            <c:bubble3D val="0"/>
            <c:spPr>
              <a:solidFill>
                <a:schemeClr val="lt1"/>
              </a:solidFill>
              <a:ln w="19050">
                <a:solidFill>
                  <a:schemeClr val="accent1"/>
                </a:solidFill>
              </a:ln>
              <a:effectLst/>
            </c:spPr>
            <c:extLst>
              <c:ext xmlns:c16="http://schemas.microsoft.com/office/drawing/2014/chart" uri="{C3380CC4-5D6E-409C-BE32-E72D297353CC}">
                <c16:uniqueId val="{00000009-140E-4BC2-864D-E1B3275FDC42}"/>
              </c:ext>
            </c:extLst>
          </c:dPt>
          <c:dPt>
            <c:idx val="5"/>
            <c:bubble3D val="0"/>
            <c:spPr>
              <a:solidFill>
                <a:schemeClr val="lt1"/>
              </a:solidFill>
              <a:ln w="19050">
                <a:solidFill>
                  <a:schemeClr val="accent1"/>
                </a:solidFill>
              </a:ln>
              <a:effectLst/>
            </c:spPr>
            <c:extLst>
              <c:ext xmlns:c16="http://schemas.microsoft.com/office/drawing/2014/chart" uri="{C3380CC4-5D6E-409C-BE32-E72D297353CC}">
                <c16:uniqueId val="{0000000B-140E-4BC2-864D-E1B3275FDC42}"/>
              </c:ext>
            </c:extLst>
          </c:dPt>
          <c:dLbls>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2688150620881797"/>
                      <c:h val="0.1301804375074555"/>
                    </c:manualLayout>
                  </c15:layout>
                </c:ext>
                <c:ext xmlns:c16="http://schemas.microsoft.com/office/drawing/2014/chart" uri="{C3380CC4-5D6E-409C-BE32-E72D297353CC}">
                  <c16:uniqueId val="{00000001-140E-4BC2-864D-E1B3275FDC42}"/>
                </c:ext>
              </c:extLst>
            </c:dLbl>
            <c:dLbl>
              <c:idx val="1"/>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3-140E-4BC2-864D-E1B3275FDC42}"/>
                </c:ext>
              </c:extLst>
            </c:dLbl>
            <c:dLbl>
              <c:idx val="2"/>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5-140E-4BC2-864D-E1B3275FDC42}"/>
                </c:ext>
              </c:extLst>
            </c:dLbl>
            <c:dLbl>
              <c:idx val="3"/>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7-140E-4BC2-864D-E1B3275FDC42}"/>
                </c:ext>
              </c:extLst>
            </c:dLbl>
            <c:dLbl>
              <c:idx val="4"/>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9-140E-4BC2-864D-E1B3275FDC42}"/>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accent1">
                      <a:lumMod val="60000"/>
                      <a:lumOff val="40000"/>
                    </a:schemeClr>
                  </a:solidFill>
                </a:ln>
                <a:effectLst/>
              </c:spPr>
            </c:leaderLines>
            <c:extLst>
              <c:ext xmlns:c15="http://schemas.microsoft.com/office/drawing/2012/chart" uri="{CE6537A1-D6FC-4f65-9D91-7224C49458BB}"/>
            </c:extLst>
          </c:dLbls>
          <c:cat>
            <c:strRef>
              <c:f>Sheet1!$A$2:$A$7</c:f>
              <c:strCache>
                <c:ptCount val="5"/>
                <c:pt idx="0">
                  <c:v>Unconcerned</c:v>
                </c:pt>
                <c:pt idx="1">
                  <c:v>Ingredient Apathetic</c:v>
                </c:pt>
                <c:pt idx="2">
                  <c:v>Price Conscious</c:v>
                </c:pt>
                <c:pt idx="3">
                  <c:v>Stressed Out</c:v>
                </c:pt>
                <c:pt idx="4">
                  <c:v>Age Focused</c:v>
                </c:pt>
              </c:strCache>
            </c:strRef>
          </c:cat>
          <c:val>
            <c:numRef>
              <c:f>Sheet1!$B$2:$B$7</c:f>
              <c:numCache>
                <c:formatCode>0%</c:formatCode>
                <c:ptCount val="6"/>
                <c:pt idx="0">
                  <c:v>0.25</c:v>
                </c:pt>
                <c:pt idx="1">
                  <c:v>0.17</c:v>
                </c:pt>
                <c:pt idx="2">
                  <c:v>0.17</c:v>
                </c:pt>
                <c:pt idx="3">
                  <c:v>0.22</c:v>
                </c:pt>
                <c:pt idx="4">
                  <c:v>0.18</c:v>
                </c:pt>
              </c:numCache>
            </c:numRef>
          </c:val>
          <c:extLst>
            <c:ext xmlns:c16="http://schemas.microsoft.com/office/drawing/2014/chart" uri="{C3380CC4-5D6E-409C-BE32-E72D297353CC}">
              <c16:uniqueId val="{0000000C-140E-4BC2-864D-E1B3275FDC42}"/>
            </c:ext>
          </c:extLst>
        </c:ser>
        <c:dLbls>
          <c:showLegendKey val="0"/>
          <c:showVal val="0"/>
          <c:showCatName val="1"/>
          <c:showSerName val="0"/>
          <c:showPercent val="1"/>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60">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4"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styleClr val="0"/>
    </cs:lnRef>
    <cs:fillRef idx="0"/>
    <cs:effectRef idx="0"/>
    <cs:fontRef idx="minor">
      <cs:styleClr val="0"/>
    </cs:fontRef>
    <cs:defRPr sz="1197" b="1" kern="1200"/>
  </cs:dataLabel>
  <cs:dataLabelCallout>
    <cs:lnRef idx="0">
      <cs:styleClr val="0"/>
    </cs:lnRef>
    <cs:fillRef idx="0"/>
    <cs:effectRef idx="0"/>
    <cs:fontRef idx="minor">
      <cs:styleClr val="0"/>
    </cs:fontRef>
    <cs:spPr>
      <a:solidFill>
        <a:schemeClr val="lt1"/>
      </a:solidFill>
      <a:ln>
        <a:solidFill>
          <a:schemeClr val="phClr"/>
        </a:solidFill>
      </a:ln>
    </cs:spPr>
    <cs:defRPr sz="1197" b="1" kern="1200"/>
    <cs:bodyPr rot="0" spcFirstLastPara="1" vertOverflow="clip" horzOverflow="clip" vert="horz" wrap="square" lIns="36576" tIns="18288" rIns="36576" bIns="18288" anchor="ctr" anchorCtr="1">
      <a:spAutoFit/>
    </cs:bodyPr>
  </cs:dataLabelCallout>
  <cs:dataPoint>
    <cs:lnRef idx="0">
      <cs:styleClr val="0"/>
    </cs:lnRef>
    <cs:fillRef idx="0"/>
    <cs:effectRef idx="0"/>
    <cs:fontRef idx="minor">
      <a:schemeClr val="dk1"/>
    </cs:fontRef>
    <cs:spPr>
      <a:solidFill>
        <a:schemeClr val="lt1"/>
      </a:solidFill>
      <a:ln w="19050">
        <a:solidFill>
          <a:schemeClr val="phClr"/>
        </a:solidFill>
      </a:ln>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2"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2" y="0"/>
            <a:ext cx="2971802" cy="4587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4"/>
            <a:ext cx="2971802"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2" y="8685214"/>
            <a:ext cx="2971802"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2"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2" y="0"/>
            <a:ext cx="2971802" cy="458788"/>
          </a:xfrm>
          <a:prstGeom prst="rect">
            <a:avLst/>
          </a:prstGeom>
        </p:spPr>
        <p:txBody>
          <a:bodyPr vert="horz" lIns="91440" tIns="45720" rIns="91440" bIns="45720" rtlCol="0"/>
          <a:lstStyle>
            <a:lvl1pPr algn="r">
              <a:defRPr sz="1200"/>
            </a:lvl1pPr>
          </a:lstStyle>
          <a:p>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2"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4"/>
            <a:ext cx="2971802"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2" y="8685214"/>
            <a:ext cx="2971802"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youtube.com/watch?v=qw-kwNGRxm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r>
              <a:rPr lang="en-US" i="1"/>
              <a:t>Background of L’Oréal, “Class to Mass”</a:t>
            </a:r>
            <a:r>
              <a:rPr lang="en-US"/>
              <a:t> (1 minute)</a:t>
            </a:r>
          </a:p>
          <a:p>
            <a:pPr marL="342900" lvl="2" indent="-342900"/>
            <a:r>
              <a:rPr lang="en-US"/>
              <a:t>L'Oréal was founded in France in 1907 and was born from a desire for technological innovation in </a:t>
            </a:r>
            <a:r>
              <a:rPr lang="en-US" b="1"/>
              <a:t>hair color.</a:t>
            </a:r>
            <a:r>
              <a:rPr lang="en-US"/>
              <a:t> L'Oréal maintained a focus on innovation as the company grew, and today, their mission statement is “Offering all women and men worldwide the best of </a:t>
            </a:r>
            <a:r>
              <a:rPr lang="en-US" b="1"/>
              <a:t>cosmetics innovation</a:t>
            </a:r>
            <a:r>
              <a:rPr lang="en-US"/>
              <a:t> in terms of quality, efficacy, and safety.”</a:t>
            </a:r>
            <a:endParaRPr lang="en-US">
              <a:cs typeface="Calibri"/>
            </a:endParaRPr>
          </a:p>
          <a:p>
            <a:pPr marL="342900" lvl="2" indent="-342900"/>
            <a:r>
              <a:rPr lang="en-US"/>
              <a:t>Their longtime strategy of “Trickle Down and Fire Up,” has been a key to their success. The company develops product technology for their high-end brands (like Lancôme and </a:t>
            </a:r>
            <a:r>
              <a:rPr lang="en-US" err="1"/>
              <a:t>Biotherm</a:t>
            </a:r>
            <a:r>
              <a:rPr lang="en-US"/>
              <a:t>), then that technology is “trickled down” into their more widely distributed brands; those sold in drugstores, mass merchants, and grocery stores.</a:t>
            </a:r>
            <a:endParaRPr lang="en-US">
              <a:cs typeface="Calibri"/>
            </a:endParaRPr>
          </a:p>
          <a:p>
            <a:pPr marL="342900" lvl="2" indent="-342900"/>
            <a:r>
              <a:rPr lang="en-US"/>
              <a:t>It's important to note for this case, while brands like Lancôme are supported in the department stores with sales representatives to help customers understand the products, the more widely distributed brands rely on </a:t>
            </a:r>
            <a:r>
              <a:rPr lang="en-US" b="1"/>
              <a:t>strong advertising, merchandising and promotions</a:t>
            </a:r>
            <a:r>
              <a:rPr lang="en-US"/>
              <a:t> to sell the product.</a:t>
            </a:r>
            <a:endParaRPr lang="en-US">
              <a:cs typeface="Calibri"/>
            </a:endParaRPr>
          </a:p>
          <a:p>
            <a:endParaRPr lang="en-US">
              <a:cs typeface="Calibri"/>
            </a:endParaRPr>
          </a:p>
        </p:txBody>
      </p:sp>
      <p:sp>
        <p:nvSpPr>
          <p:cNvPr id="5" name="Date Placeholder 4">
            <a:extLst>
              <a:ext uri="{FF2B5EF4-FFF2-40B4-BE49-F238E27FC236}">
                <a16:creationId xmlns:a16="http://schemas.microsoft.com/office/drawing/2014/main" id="{5AFBF2C9-C559-4756-868A-0B1F4DE068EE}"/>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860614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i="1"/>
              <a:t>The Plenitude Brand</a:t>
            </a:r>
            <a:r>
              <a:rPr lang="en-US"/>
              <a:t> (1 minute)</a:t>
            </a:r>
          </a:p>
          <a:p>
            <a:pPr marL="171450" indent="-171450">
              <a:lnSpc>
                <a:spcPct val="90000"/>
              </a:lnSpc>
              <a:spcBef>
                <a:spcPts val="1000"/>
              </a:spcBef>
              <a:buFont typeface="Arial"/>
              <a:buChar char="•"/>
            </a:pPr>
            <a:r>
              <a:rPr lang="en-US"/>
              <a:t>The brand was introduced in France in 1982 and was one of L'Oréal's first ventures beyond haircare and cosmetics. They positioned the brand as high-end with superior performance, yet accessible for women.</a:t>
            </a:r>
            <a:endParaRPr lang="en-US">
              <a:cs typeface="Calibri"/>
            </a:endParaRPr>
          </a:p>
          <a:p>
            <a:pPr marL="171450" indent="-171450">
              <a:lnSpc>
                <a:spcPct val="90000"/>
              </a:lnSpc>
              <a:spcBef>
                <a:spcPts val="1000"/>
              </a:spcBef>
              <a:buFont typeface="Arial"/>
              <a:buChar char="•"/>
            </a:pPr>
            <a:r>
              <a:rPr lang="en-US"/>
              <a:t>Their marketing message, which was mostly delivered through print ads as was standard practice for prestige brands, focused on the modern woman, using technologically advanced products. This ad is of course the US version from 1992, but gives an idea of the message used in France. </a:t>
            </a:r>
            <a:endParaRPr lang="en-US">
              <a:cs typeface="Calibri"/>
            </a:endParaRPr>
          </a:p>
          <a:p>
            <a:pPr marL="171450" indent="-171450">
              <a:lnSpc>
                <a:spcPct val="90000"/>
              </a:lnSpc>
              <a:spcBef>
                <a:spcPts val="1000"/>
              </a:spcBef>
              <a:buFont typeface="Arial"/>
              <a:buChar char="•"/>
            </a:pPr>
            <a:r>
              <a:rPr lang="en-US"/>
              <a:t>The brand was an early success in France and L'Oréal developed additional products to complement the initial moisturizer. This print ad shows the various products that were developed.</a:t>
            </a:r>
          </a:p>
          <a:p>
            <a:pPr lvl="1"/>
            <a:endParaRPr lang="en-US">
              <a:cs typeface="Calibri"/>
            </a:endParaRPr>
          </a:p>
        </p:txBody>
      </p:sp>
      <p:sp>
        <p:nvSpPr>
          <p:cNvPr id="5" name="Date Placeholder 4">
            <a:extLst>
              <a:ext uri="{FF2B5EF4-FFF2-40B4-BE49-F238E27FC236}">
                <a16:creationId xmlns:a16="http://schemas.microsoft.com/office/drawing/2014/main" id="{C187148C-B5D8-487E-B80D-DE64323B11A2}"/>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4229124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i="1"/>
              <a:t>Entry of Plenitude in US</a:t>
            </a:r>
            <a:r>
              <a:rPr lang="en-US"/>
              <a:t> (1 minute)</a:t>
            </a:r>
          </a:p>
          <a:p>
            <a:pPr marL="1085850" lvl="2" indent="-171450">
              <a:buFont typeface="Arial"/>
              <a:buChar char="•"/>
            </a:pPr>
            <a:r>
              <a:rPr lang="en-US"/>
              <a:t>Introduced in US in 1988, test marketed in Atlanta and Dallas, then introduced nationwide after very positive results. L'Oréal required retailers to carry all 14 SKUs so that the entire line of products was available to shoppers – which you can see here in the planogram. The 14 products fell within three categories: basic moisturizers, treatment moisturizers, and cleansers. </a:t>
            </a:r>
            <a:endParaRPr lang="en-US">
              <a:cs typeface="Calibri"/>
            </a:endParaRPr>
          </a:p>
          <a:p>
            <a:pPr marL="1085850" lvl="2" indent="-171450">
              <a:buFont typeface="Arial"/>
              <a:buChar char="•"/>
            </a:pPr>
            <a:r>
              <a:rPr lang="en-US"/>
              <a:t>The challenge for L'Oréal US was that they were well known for their cosmetics, but did not have products in the Health and Beauty Aids (HBA). By making this move, they would be competing against strong competitors: Olay, Ponds and Neutrogena (we'll talk about that more later). But their strength lies in their technological innovation, which they had made clear with their cosmetics and hair care brands in the US. </a:t>
            </a:r>
            <a:endParaRPr lang="en-US">
              <a:cs typeface="Calibri"/>
            </a:endParaRPr>
          </a:p>
          <a:p>
            <a:pPr marL="1085850" lvl="2" indent="-171450">
              <a:buFont typeface="Arial"/>
              <a:buChar char="•"/>
            </a:pPr>
            <a:r>
              <a:rPr lang="en-US"/>
              <a:t>They would rely on strong advertising and merchandising to make up for not having the department store environment with helpful sales people.</a:t>
            </a:r>
            <a:endParaRPr lang="en-US">
              <a:cs typeface="Calibri"/>
            </a:endParaRPr>
          </a:p>
          <a:p>
            <a:pPr marL="0"/>
            <a:endParaRPr lang="en-US">
              <a:cs typeface="Calibri"/>
            </a:endParaRPr>
          </a:p>
        </p:txBody>
      </p:sp>
      <p:sp>
        <p:nvSpPr>
          <p:cNvPr id="5" name="Date Placeholder 4">
            <a:extLst>
              <a:ext uri="{FF2B5EF4-FFF2-40B4-BE49-F238E27FC236}">
                <a16:creationId xmlns:a16="http://schemas.microsoft.com/office/drawing/2014/main" id="{FBDBB996-8276-4C27-BD99-3FA4CB243C8E}"/>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356808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r>
              <a:rPr lang="en-US" i="1"/>
              <a:t>Entry of Plenitude in US cont.</a:t>
            </a:r>
            <a:endParaRPr lang="en-US">
              <a:cs typeface="Calibri"/>
            </a:endParaRPr>
          </a:p>
          <a:p>
            <a:pPr marL="0" lvl="2"/>
            <a:r>
              <a:rPr lang="en-US"/>
              <a:t>Advertisement: </a:t>
            </a:r>
            <a:r>
              <a:rPr lang="en-US" u="sng">
                <a:hlinkClick r:id="rId3"/>
              </a:rPr>
              <a:t>https://www.youtube.com/watch?v=qw-kwNGRxmA</a:t>
            </a:r>
            <a:endParaRPr lang="en-US">
              <a:cs typeface="Calibri" panose="020F0502020204030204"/>
            </a:endParaRPr>
          </a:p>
          <a:p>
            <a:pPr marL="342900" lvl="2" indent="-342900">
              <a:buChar char="•"/>
            </a:pPr>
            <a:r>
              <a:rPr lang="en-US"/>
              <a:t>Year-one sales, took 2nd place behind Oil of Olay.</a:t>
            </a:r>
            <a:endParaRPr lang="en-US">
              <a:cs typeface="Calibri"/>
            </a:endParaRPr>
          </a:p>
          <a:p>
            <a:endParaRPr lang="en-US">
              <a:cs typeface="Calibri"/>
            </a:endParaRPr>
          </a:p>
        </p:txBody>
      </p:sp>
      <p:sp>
        <p:nvSpPr>
          <p:cNvPr id="5" name="Date Placeholder 4">
            <a:extLst>
              <a:ext uri="{FF2B5EF4-FFF2-40B4-BE49-F238E27FC236}">
                <a16:creationId xmlns:a16="http://schemas.microsoft.com/office/drawing/2014/main" id="{B347112E-B704-462F-95BE-4D72DF4BA0F1}"/>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780676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r>
              <a:rPr lang="en-US" sz="1200" b="0" i="1" kern="1200">
                <a:solidFill>
                  <a:schemeClr val="tx1"/>
                </a:solidFill>
                <a:effectLst/>
                <a:latin typeface="+mn-lt"/>
                <a:ea typeface="+mn-ea"/>
                <a:cs typeface="+mn-cs"/>
              </a:rPr>
              <a:t>Goals for Plentitude and the Case </a:t>
            </a:r>
            <a:r>
              <a:rPr lang="en-US" sz="1200" b="0" i="0" kern="1200">
                <a:solidFill>
                  <a:schemeClr val="tx1"/>
                </a:solidFill>
                <a:effectLst/>
                <a:latin typeface="+mn-lt"/>
                <a:ea typeface="+mn-ea"/>
                <a:cs typeface="+mn-cs"/>
              </a:rPr>
              <a:t>(2 minutes)</a:t>
            </a:r>
          </a:p>
          <a:p>
            <a:pPr marL="0" lvl="1"/>
            <a:r>
              <a:rPr lang="en-US" sz="1200" b="0" i="0" kern="1200">
                <a:solidFill>
                  <a:schemeClr val="tx1"/>
                </a:solidFill>
                <a:effectLst/>
                <a:latin typeface="+mn-lt"/>
                <a:ea typeface="+mn-ea"/>
                <a:cs typeface="+mn-cs"/>
              </a:rPr>
              <a:t>Senior Vice President of Marketing, Carol Hamilton, details four keys for the branding team:</a:t>
            </a: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Improve the top-line: we need to break through the four-year sales plateau and increase sales in order to maintain a strong position.</a:t>
            </a: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Bottom line moving in the right direction: L'Oréal lost 12.5 million on the brand in 1995. L'Oréal does not require a profit in 1996, but we want to be moving in the direction to start turning a profit soon.  </a:t>
            </a: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Make the US a major contributor to the brand’s position globally. In 1994, L'Oréal</a:t>
            </a:r>
            <a:r>
              <a:rPr lang="en-US" sz="1200" b="1" i="0" kern="1200">
                <a:solidFill>
                  <a:schemeClr val="tx1"/>
                </a:solidFill>
                <a:effectLst/>
                <a:latin typeface="+mn-lt"/>
                <a:ea typeface="+mn-ea"/>
                <a:cs typeface="+mn-cs"/>
              </a:rPr>
              <a:t> US </a:t>
            </a:r>
            <a:r>
              <a:rPr lang="en-US" sz="1200" b="0" i="0" kern="1200">
                <a:solidFill>
                  <a:schemeClr val="tx1"/>
                </a:solidFill>
                <a:effectLst/>
                <a:latin typeface="+mn-lt"/>
                <a:ea typeface="+mn-ea"/>
                <a:cs typeface="+mn-cs"/>
              </a:rPr>
              <a:t>went from an exclusive licensee to an owned subsidiary. We want to ensure L'Oréal US has a strong role in the global management of the brand.  </a:t>
            </a: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We need to ensure the US products are suitable for US customers, while fitting within L'Oréal's technology portfolio. </a:t>
            </a: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This leads us to the situation analysis and the several pages of market research you have all read… </a:t>
            </a:r>
          </a:p>
          <a:p>
            <a:endParaRPr lang="en-US">
              <a:cs typeface="Calibri"/>
            </a:endParaRPr>
          </a:p>
        </p:txBody>
      </p:sp>
      <p:sp>
        <p:nvSpPr>
          <p:cNvPr id="5" name="Date Placeholder 4">
            <a:extLst>
              <a:ext uri="{FF2B5EF4-FFF2-40B4-BE49-F238E27FC236}">
                <a16:creationId xmlns:a16="http://schemas.microsoft.com/office/drawing/2014/main" id="{D003BB5B-D15F-49D7-87C9-4A780CAC14D5}"/>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3752890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To start off the situational analysis, I'm going to pass it over to Vinay to explore Plenitude's competition.</a:t>
            </a:r>
          </a:p>
        </p:txBody>
      </p:sp>
      <p:sp>
        <p:nvSpPr>
          <p:cNvPr id="5" name="Date Placeholder 4">
            <a:extLst>
              <a:ext uri="{FF2B5EF4-FFF2-40B4-BE49-F238E27FC236}">
                <a16:creationId xmlns:a16="http://schemas.microsoft.com/office/drawing/2014/main" id="{5A8A15A0-3E5A-4688-8322-D9041ADA3E4C}"/>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046156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When Plenitude became a hit or successful in France , It expanded in different markets like US.</a:t>
            </a:r>
          </a:p>
          <a:p>
            <a:r>
              <a:rPr lang="en-US">
                <a:cs typeface="Calibri"/>
              </a:rPr>
              <a:t>For company to be in mass channel it was clear to be in Health and Beauty Aids section, where 80% of the business was with Olay, Ponds, Neutrogena and Nivea</a:t>
            </a:r>
          </a:p>
          <a:p>
            <a:endParaRPr lang="en-US">
              <a:cs typeface="Calibri"/>
            </a:endParaRPr>
          </a:p>
          <a:p>
            <a:r>
              <a:rPr lang="en-US">
                <a:cs typeface="Calibri"/>
              </a:rPr>
              <a:t>The graph on the right shows each brand's percentage of sales of daily moisturizers (the Blue portion) versus the percentage of sales of treatment moisturizers (the Yellow portion). </a:t>
            </a:r>
          </a:p>
          <a:p>
            <a:endParaRPr lang="en-US">
              <a:cs typeface="Calibri"/>
            </a:endParaRPr>
          </a:p>
        </p:txBody>
      </p:sp>
      <p:sp>
        <p:nvSpPr>
          <p:cNvPr id="5" name="Date Placeholder 4">
            <a:extLst>
              <a:ext uri="{FF2B5EF4-FFF2-40B4-BE49-F238E27FC236}">
                <a16:creationId xmlns:a16="http://schemas.microsoft.com/office/drawing/2014/main" id="{47E83453-D30E-4944-9856-EA54E5A8100F}"/>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718536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 also looked at the market size and its growth and brand share for different product lines</a:t>
            </a:r>
          </a:p>
          <a:p>
            <a:r>
              <a:rPr lang="en-US">
                <a:cs typeface="Calibri"/>
              </a:rPr>
              <a:t>What we observed was Dollar Volume was increasing year over year, which means market is growing.</a:t>
            </a:r>
          </a:p>
          <a:p>
            <a:r>
              <a:rPr lang="en-US">
                <a:cs typeface="Calibri"/>
              </a:rPr>
              <a:t>However during the same period when we saw the brand share , it was a different picture. </a:t>
            </a:r>
          </a:p>
          <a:p>
            <a:r>
              <a:rPr lang="en-US">
                <a:cs typeface="Calibri"/>
              </a:rPr>
              <a:t>Plenitude showed some increase in first year , and not so much in the remaining years. Olay was going down , where as Ponds and Alpha-</a:t>
            </a:r>
            <a:r>
              <a:rPr lang="en-US" err="1">
                <a:cs typeface="Calibri"/>
              </a:rPr>
              <a:t>Hydrox</a:t>
            </a:r>
            <a:r>
              <a:rPr lang="en-US">
                <a:cs typeface="Calibri"/>
              </a:rPr>
              <a:t> where increasing dramatically. </a:t>
            </a:r>
          </a:p>
          <a:p>
            <a:endParaRPr lang="en-US"/>
          </a:p>
        </p:txBody>
      </p:sp>
      <p:sp>
        <p:nvSpPr>
          <p:cNvPr id="5" name="Date Placeholder 4">
            <a:extLst>
              <a:ext uri="{FF2B5EF4-FFF2-40B4-BE49-F238E27FC236}">
                <a16:creationId xmlns:a16="http://schemas.microsoft.com/office/drawing/2014/main" id="{66C359E2-EDE3-4F6E-B168-6C9D11E56846}"/>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255188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 also looked at the market size and its growth and brand share for different product lines</a:t>
            </a:r>
          </a:p>
          <a:p>
            <a:r>
              <a:rPr lang="en-US">
                <a:cs typeface="Calibri"/>
              </a:rPr>
              <a:t>What we observed was Dollar Volume was increasing year over year, which means market is growing.</a:t>
            </a:r>
          </a:p>
          <a:p>
            <a:r>
              <a:rPr lang="en-US">
                <a:cs typeface="Calibri"/>
              </a:rPr>
              <a:t>However during the same period when we saw the brand share , it was a different picture. </a:t>
            </a:r>
          </a:p>
          <a:p>
            <a:r>
              <a:rPr lang="en-US">
                <a:cs typeface="Calibri"/>
              </a:rPr>
              <a:t>Plenitude showed some increase in first year , and not so much in the remaining years. Olay was going down , where as Ponds and Alpha-</a:t>
            </a:r>
            <a:r>
              <a:rPr lang="en-US" err="1">
                <a:cs typeface="Calibri"/>
              </a:rPr>
              <a:t>Hydrox</a:t>
            </a:r>
            <a:r>
              <a:rPr lang="en-US">
                <a:cs typeface="Calibri"/>
              </a:rPr>
              <a:t> where increasing dramatically. </a:t>
            </a:r>
          </a:p>
          <a:p>
            <a:endParaRPr lang="en-US"/>
          </a:p>
        </p:txBody>
      </p:sp>
      <p:sp>
        <p:nvSpPr>
          <p:cNvPr id="5" name="Date Placeholder 4">
            <a:extLst>
              <a:ext uri="{FF2B5EF4-FFF2-40B4-BE49-F238E27FC236}">
                <a16:creationId xmlns:a16="http://schemas.microsoft.com/office/drawing/2014/main" id="{EC51E644-AE84-40E2-9ECA-015AE51B63E0}"/>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413426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During Market research we found a lot of concerns regarding brand of Loreal which we will cover in a bit,</a:t>
            </a:r>
          </a:p>
          <a:p>
            <a:r>
              <a:rPr lang="en-US">
                <a:cs typeface="Calibri"/>
              </a:rPr>
              <a:t>One thing that we wanted to check was how are people familiar with the brand , and what have been their experience.</a:t>
            </a:r>
          </a:p>
          <a:p>
            <a:r>
              <a:rPr lang="en-US">
                <a:cs typeface="Calibri"/>
              </a:rPr>
              <a:t>What we observed was Oil of Olay and Ponds where the most familiar brands to people, and less aware of Loreal Plenitude. </a:t>
            </a:r>
          </a:p>
          <a:p>
            <a:r>
              <a:rPr lang="en-US">
                <a:cs typeface="Calibri"/>
              </a:rPr>
              <a:t>However when we added another matrix of how many people tried the product , difference grew significant.</a:t>
            </a:r>
          </a:p>
          <a:p>
            <a:endParaRPr lang="en-US"/>
          </a:p>
        </p:txBody>
      </p:sp>
      <p:sp>
        <p:nvSpPr>
          <p:cNvPr id="5" name="Date Placeholder 4">
            <a:extLst>
              <a:ext uri="{FF2B5EF4-FFF2-40B4-BE49-F238E27FC236}">
                <a16:creationId xmlns:a16="http://schemas.microsoft.com/office/drawing/2014/main" id="{7F18ED92-8AF7-42E7-9A95-40671D331BD8}"/>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80200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Qualitative study among acceptors and rejectors of </a:t>
            </a:r>
            <a:r>
              <a:rPr lang="en-US" err="1"/>
              <a:t>Pléntitude</a:t>
            </a:r>
            <a:endParaRPr lang="en-US"/>
          </a:p>
          <a:p>
            <a:pPr lvl="1">
              <a:lnSpc>
                <a:spcPct val="90000"/>
              </a:lnSpc>
              <a:spcBef>
                <a:spcPts val="500"/>
              </a:spcBef>
              <a:buFont typeface="Arial"/>
              <a:buChar char="•"/>
            </a:pPr>
            <a:r>
              <a:rPr lang="en-US"/>
              <a:t>Based on Olay and Ponds study</a:t>
            </a:r>
          </a:p>
          <a:p>
            <a:pPr lvl="1">
              <a:lnSpc>
                <a:spcPct val="90000"/>
              </a:lnSpc>
              <a:spcBef>
                <a:spcPts val="500"/>
              </a:spcBef>
              <a:buFont typeface="Arial"/>
              <a:buChar char="•"/>
            </a:pPr>
            <a:r>
              <a:rPr lang="en-US"/>
              <a:t>People who have used </a:t>
            </a:r>
            <a:r>
              <a:rPr lang="en-US" err="1"/>
              <a:t>Pléntitude</a:t>
            </a:r>
            <a:endParaRPr lang="en-US"/>
          </a:p>
          <a:p>
            <a:pPr lvl="2">
              <a:lnSpc>
                <a:spcPct val="90000"/>
              </a:lnSpc>
              <a:spcBef>
                <a:spcPts val="500"/>
              </a:spcBef>
              <a:buFont typeface="Arial"/>
              <a:buChar char="•"/>
            </a:pPr>
            <a:r>
              <a:rPr lang="en-US"/>
              <a:t>Acceptors – still using the brand</a:t>
            </a:r>
          </a:p>
          <a:p>
            <a:pPr lvl="2">
              <a:lnSpc>
                <a:spcPct val="90000"/>
              </a:lnSpc>
              <a:spcBef>
                <a:spcPts val="500"/>
              </a:spcBef>
              <a:buFont typeface="Arial"/>
              <a:buChar char="•"/>
            </a:pPr>
            <a:r>
              <a:rPr lang="en-US"/>
              <a:t>Rejectors – stopped using the brand</a:t>
            </a:r>
          </a:p>
          <a:p>
            <a:pPr lvl="3">
              <a:lnSpc>
                <a:spcPct val="90000"/>
              </a:lnSpc>
              <a:spcBef>
                <a:spcPts val="500"/>
              </a:spcBef>
              <a:buFont typeface="Arial"/>
              <a:buChar char="•"/>
            </a:pPr>
            <a:r>
              <a:rPr lang="en-US"/>
              <a:t>Four 2-hr focus groups in Boston and Dallas</a:t>
            </a:r>
          </a:p>
          <a:p>
            <a:pPr lvl="1">
              <a:lnSpc>
                <a:spcPct val="90000"/>
              </a:lnSpc>
              <a:spcBef>
                <a:spcPts val="500"/>
              </a:spcBef>
              <a:buFont typeface="Arial"/>
              <a:buChar char="•"/>
            </a:pPr>
            <a:r>
              <a:rPr lang="en-US"/>
              <a:t>Acceptors and rejectors of Olay and Ponds</a:t>
            </a:r>
          </a:p>
          <a:p>
            <a:endParaRPr lang="en-US"/>
          </a:p>
        </p:txBody>
      </p:sp>
      <p:sp>
        <p:nvSpPr>
          <p:cNvPr id="5" name="Date Placeholder 4">
            <a:extLst>
              <a:ext uri="{FF2B5EF4-FFF2-40B4-BE49-F238E27FC236}">
                <a16:creationId xmlns:a16="http://schemas.microsoft.com/office/drawing/2014/main" id="{4C969780-3E9B-4E35-A9AA-E5227A17EDD2}"/>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612600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Acceptor/Rejector Studies Perceptions</a:t>
            </a:r>
          </a:p>
          <a:p>
            <a:pPr marL="171450" indent="-171450">
              <a:lnSpc>
                <a:spcPct val="90000"/>
              </a:lnSpc>
              <a:spcBef>
                <a:spcPts val="1000"/>
              </a:spcBef>
              <a:buFont typeface="Arial,Sans-Serif"/>
              <a:buChar char="•"/>
            </a:pPr>
            <a:r>
              <a:rPr lang="en-US"/>
              <a:t>L'Oréal means more to people than </a:t>
            </a:r>
            <a:r>
              <a:rPr lang="en-US" err="1"/>
              <a:t>Plénitude</a:t>
            </a:r>
            <a:endParaRPr lang="en-US" err="1">
              <a:cs typeface="Calibri"/>
            </a:endParaRPr>
          </a:p>
          <a:p>
            <a:pPr marL="171450" indent="-171450">
              <a:lnSpc>
                <a:spcPct val="90000"/>
              </a:lnSpc>
              <a:spcBef>
                <a:spcPts val="1000"/>
              </a:spcBef>
              <a:buFont typeface="Arial,Sans-Serif"/>
              <a:buChar char="•"/>
            </a:pPr>
            <a:r>
              <a:rPr lang="en-US"/>
              <a:t>People saw </a:t>
            </a:r>
            <a:r>
              <a:rPr lang="en-US" err="1"/>
              <a:t>Plénitude</a:t>
            </a:r>
            <a:r>
              <a:rPr lang="en-US"/>
              <a:t> as having a very large number of products</a:t>
            </a:r>
            <a:endParaRPr lang="en-US">
              <a:cs typeface="Calibri"/>
            </a:endParaRPr>
          </a:p>
          <a:p>
            <a:pPr marL="171450" indent="-171450">
              <a:lnSpc>
                <a:spcPct val="90000"/>
              </a:lnSpc>
              <a:spcBef>
                <a:spcPts val="1000"/>
              </a:spcBef>
              <a:buFont typeface="Arial,Sans-Serif"/>
              <a:buChar char="•"/>
            </a:pPr>
            <a:r>
              <a:rPr lang="en-US"/>
              <a:t>Some felt like this was positive, and some negative</a:t>
            </a:r>
            <a:endParaRPr lang="en-US">
              <a:cs typeface="Calibri"/>
            </a:endParaRPr>
          </a:p>
          <a:p>
            <a:pPr marL="171450" indent="-171450">
              <a:lnSpc>
                <a:spcPct val="90000"/>
              </a:lnSpc>
              <a:spcBef>
                <a:spcPts val="1000"/>
              </a:spcBef>
              <a:buFont typeface="Arial,Sans-Serif"/>
              <a:buChar char="•"/>
            </a:pPr>
            <a:r>
              <a:rPr lang="en-US"/>
              <a:t>Some felt like </a:t>
            </a:r>
            <a:r>
              <a:rPr lang="en-US" err="1"/>
              <a:t>Pléntiude</a:t>
            </a:r>
            <a:r>
              <a:rPr lang="en-US"/>
              <a:t> was specifically targeting older women</a:t>
            </a:r>
          </a:p>
          <a:p>
            <a:pPr marL="171450" indent="-171450">
              <a:lnSpc>
                <a:spcPct val="90000"/>
              </a:lnSpc>
              <a:spcBef>
                <a:spcPts val="1000"/>
              </a:spcBef>
              <a:buFont typeface="Arial,Sans-Serif"/>
              <a:buChar char="•"/>
            </a:pPr>
            <a:endParaRPr lang="en-US">
              <a:cs typeface="Calibri"/>
            </a:endParaRPr>
          </a:p>
          <a:p>
            <a:pPr marL="742950" lvl="2" indent="-285750">
              <a:buFont typeface="Calibri,Sans-Serif"/>
              <a:buChar char="•"/>
            </a:pPr>
            <a:r>
              <a:rPr lang="en-US"/>
              <a:t>The acceptor/rejector studies showed a lot about the perceptions of the brand within the U.S. </a:t>
            </a:r>
            <a:endParaRPr lang="en-US">
              <a:cs typeface="Calibri" panose="020F0502020204030204"/>
            </a:endParaRPr>
          </a:p>
          <a:p>
            <a:pPr marL="1200150" lvl="4" indent="-285750">
              <a:buFont typeface="Calibri,Sans-Serif"/>
              <a:buChar char="•"/>
            </a:pPr>
            <a:r>
              <a:rPr lang="en-US"/>
              <a:t>L'Oréal meant more to people than Plenitude </a:t>
            </a:r>
            <a:endParaRPr lang="en-US">
              <a:cs typeface="Calibri" panose="020F0502020204030204"/>
            </a:endParaRPr>
          </a:p>
          <a:p>
            <a:pPr marL="1657350" lvl="6" indent="-285750">
              <a:buFont typeface="Calibri,Sans-Serif"/>
              <a:buChar char="•"/>
            </a:pPr>
            <a:r>
              <a:rPr lang="en-US"/>
              <a:t>Most people within the study always went to the name L'Oréal. They did not know that Plenitude was the name of the brand or even meant anything at all.</a:t>
            </a:r>
            <a:endParaRPr lang="en-US">
              <a:cs typeface="Calibri" panose="020F0502020204030204"/>
            </a:endParaRPr>
          </a:p>
          <a:p>
            <a:pPr marL="1657350" lvl="6" indent="-285750">
              <a:buFont typeface="Calibri,Sans-Serif"/>
              <a:buChar char="•"/>
            </a:pPr>
            <a:r>
              <a:rPr lang="en-US"/>
              <a:t>When thinking of L'Oréal, people thought that the products were more expensive but better quality</a:t>
            </a:r>
            <a:endParaRPr lang="en-US">
              <a:cs typeface="Calibri" panose="020F0502020204030204"/>
            </a:endParaRPr>
          </a:p>
          <a:p>
            <a:pPr marL="1200150" lvl="4" indent="-285750">
              <a:buFont typeface="Calibri,Sans-Serif"/>
              <a:buChar char="•"/>
            </a:pPr>
            <a:r>
              <a:rPr lang="en-US"/>
              <a:t>People saw the Plenitude line as having a large number of products</a:t>
            </a:r>
            <a:endParaRPr lang="en-US">
              <a:cs typeface="Calibri" panose="020F0502020204030204"/>
            </a:endParaRPr>
          </a:p>
          <a:p>
            <a:pPr marL="1657350" lvl="6" indent="-285750">
              <a:buFont typeface="Calibri,Sans-Serif"/>
              <a:buChar char="•"/>
            </a:pPr>
            <a:r>
              <a:rPr lang="en-US"/>
              <a:t>Some felt that this was a positive aspect because it offers a lot which makes it seem to be more researched and top of the line</a:t>
            </a:r>
            <a:endParaRPr lang="en-US">
              <a:cs typeface="Calibri" panose="020F0502020204030204"/>
            </a:endParaRPr>
          </a:p>
          <a:p>
            <a:pPr marL="1657350" lvl="6" indent="-285750">
              <a:buFont typeface="Calibri,Sans-Serif"/>
              <a:buChar char="•"/>
            </a:pPr>
            <a:r>
              <a:rPr lang="en-US"/>
              <a:t>Some felt like this was a negative thing because all of the products made the line very confusing and complicated. People felt like they don’t have the time to read about all of the options and figure out which one is the best product.</a:t>
            </a:r>
            <a:endParaRPr lang="en-US">
              <a:cs typeface="Calibri" panose="020F0502020204030204"/>
            </a:endParaRPr>
          </a:p>
          <a:p>
            <a:pPr marL="1657350" lvl="6" indent="-285750">
              <a:buFont typeface="Calibri,Sans-Serif"/>
              <a:buChar char="•"/>
            </a:pPr>
            <a:r>
              <a:rPr lang="en-US"/>
              <a:t>The names of the products mainly confused people. They want to be able to read the name and know what the product is/does</a:t>
            </a:r>
            <a:endParaRPr lang="en-US">
              <a:cs typeface="Calibri" panose="020F0502020204030204"/>
            </a:endParaRPr>
          </a:p>
          <a:p>
            <a:pPr marL="1200150" lvl="4" indent="-285750">
              <a:buFont typeface="Calibri,Sans-Serif"/>
              <a:buChar char="•"/>
            </a:pPr>
            <a:r>
              <a:rPr lang="en-US"/>
              <a:t>Some felt like Plenitude specifically was targeting older women because of all the aging products</a:t>
            </a:r>
            <a:endParaRPr lang="en-US">
              <a:cs typeface="Calibri"/>
            </a:endParaRPr>
          </a:p>
          <a:p>
            <a:pPr marL="171450" indent="-171450">
              <a:lnSpc>
                <a:spcPct val="90000"/>
              </a:lnSpc>
              <a:spcBef>
                <a:spcPts val="1000"/>
              </a:spcBef>
              <a:buFont typeface="Arial,Sans-Serif"/>
              <a:buChar char="•"/>
            </a:pPr>
            <a:endParaRPr lang="en-US">
              <a:cs typeface="Calibri"/>
            </a:endParaRPr>
          </a:p>
        </p:txBody>
      </p:sp>
      <p:sp>
        <p:nvSpPr>
          <p:cNvPr id="5" name="Date Placeholder 4">
            <a:extLst>
              <a:ext uri="{FF2B5EF4-FFF2-40B4-BE49-F238E27FC236}">
                <a16:creationId xmlns:a16="http://schemas.microsoft.com/office/drawing/2014/main" id="{8CA2F8C3-33FA-45E2-91B4-C451B441EA74}"/>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3431295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Perceptions of Plenitude brand</a:t>
            </a:r>
          </a:p>
          <a:p>
            <a:pPr marL="742950" lvl="2" indent="-285750">
              <a:buFont typeface="Arial,Sans-Serif"/>
              <a:buChar char="•"/>
            </a:pPr>
            <a:r>
              <a:rPr lang="en-US"/>
              <a:t>Facial Skin Care Market Study showed different perceptions with the perceptual mapping exercise </a:t>
            </a:r>
          </a:p>
          <a:p>
            <a:pPr marL="1200150" lvl="4" indent="-285750">
              <a:buFont typeface="Arial,Sans-Serif"/>
              <a:buChar char="•"/>
            </a:pPr>
            <a:r>
              <a:rPr lang="en-US"/>
              <a:t>Exhibit 9 and 10 show the specific maps</a:t>
            </a:r>
          </a:p>
          <a:p>
            <a:pPr marL="1200150" lvl="4" indent="-285750">
              <a:buFont typeface="Arial,Sans-Serif"/>
              <a:buChar char="•"/>
            </a:pPr>
            <a:r>
              <a:rPr lang="en-US"/>
              <a:t>Brand Imagery</a:t>
            </a:r>
          </a:p>
          <a:p>
            <a:pPr marL="1657350" lvl="6" indent="-285750">
              <a:buFont typeface="Arial,Sans-Serif"/>
              <a:buChar char="•"/>
            </a:pPr>
            <a:r>
              <a:rPr lang="en-US"/>
              <a:t>Plenitude was among the top with “technology advanced”, “exfoliate the skin”, and “contain AHA”</a:t>
            </a:r>
          </a:p>
          <a:p>
            <a:pPr marL="1200150" lvl="4" indent="-285750">
              <a:buFont typeface="Calibri,Sans-Serif"/>
              <a:buChar char="•"/>
            </a:pPr>
            <a:r>
              <a:rPr lang="en-US"/>
              <a:t>Brand User Imagery</a:t>
            </a:r>
          </a:p>
          <a:p>
            <a:pPr marL="1657350" lvl="6" indent="-285750">
              <a:buFont typeface="Calibri,Sans-Serif"/>
              <a:buChar char="•"/>
            </a:pPr>
            <a:r>
              <a:rPr lang="en-US"/>
              <a:t>Plenitude was among the top with “like to spend money on themselves”, Stylish upper class”, “Glamorous, sophisticated”, and “Romanic, feminine, in their 40’s"</a:t>
            </a:r>
          </a:p>
          <a:p>
            <a:pPr marL="285750" indent="-285750">
              <a:buFont typeface="Arial"/>
              <a:buChar char="•"/>
            </a:pPr>
            <a:r>
              <a:rPr lang="en-US">
                <a:cs typeface="Calibri"/>
              </a:rPr>
              <a:t>Perceptual map:</a:t>
            </a:r>
          </a:p>
          <a:p>
            <a:pPr lvl="1" indent="-285750">
              <a:buFont typeface="Arial"/>
              <a:buChar char="•"/>
            </a:pPr>
            <a:r>
              <a:rPr lang="en-US">
                <a:cs typeface="Calibri"/>
              </a:rPr>
              <a:t>How consumers "see" brands</a:t>
            </a:r>
          </a:p>
          <a:p>
            <a:pPr lvl="1" indent="-285750">
              <a:buFont typeface="Arial"/>
              <a:buChar char="•"/>
            </a:pPr>
            <a:r>
              <a:rPr lang="en-US">
                <a:cs typeface="Calibri"/>
              </a:rPr>
              <a:t>Consumers are asked to rate each brand on different dimensions</a:t>
            </a:r>
          </a:p>
          <a:p>
            <a:pPr marL="742950" lvl="2" indent="-285750">
              <a:buFont typeface="Arial"/>
              <a:buChar char="•"/>
            </a:pPr>
            <a:r>
              <a:rPr lang="en-US">
                <a:cs typeface="Calibri"/>
              </a:rPr>
              <a:t>Asked to agree/disagree</a:t>
            </a:r>
          </a:p>
          <a:p>
            <a:pPr marL="1657350" lvl="6" indent="-285750">
              <a:buFont typeface="Calibri"/>
              <a:buChar char="•"/>
            </a:pPr>
            <a:endParaRPr lang="en-US">
              <a:cs typeface="Calibri"/>
            </a:endParaRPr>
          </a:p>
          <a:p>
            <a:pPr marL="1657350" lvl="6" indent="-285750">
              <a:buFont typeface="Calibri"/>
              <a:buChar char="•"/>
            </a:pPr>
            <a:endParaRPr lang="en-US">
              <a:cs typeface="Calibri"/>
            </a:endParaRPr>
          </a:p>
          <a:p>
            <a:endParaRPr lang="en-US">
              <a:cs typeface="Calibri"/>
            </a:endParaRPr>
          </a:p>
        </p:txBody>
      </p:sp>
      <p:sp>
        <p:nvSpPr>
          <p:cNvPr id="5" name="Date Placeholder 4">
            <a:extLst>
              <a:ext uri="{FF2B5EF4-FFF2-40B4-BE49-F238E27FC236}">
                <a16:creationId xmlns:a16="http://schemas.microsoft.com/office/drawing/2014/main" id="{BEC78D11-87C7-451A-99D6-AE1DA935C9F7}"/>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53300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en-US" b="1">
                <a:cs typeface="Calibri"/>
              </a:rPr>
              <a:t>NEXT: Introducing our recommendations, Katie</a:t>
            </a:r>
          </a:p>
        </p:txBody>
      </p:sp>
      <p:sp>
        <p:nvSpPr>
          <p:cNvPr id="5" name="Date Placeholder 4">
            <a:extLst>
              <a:ext uri="{FF2B5EF4-FFF2-40B4-BE49-F238E27FC236}">
                <a16:creationId xmlns:a16="http://schemas.microsoft.com/office/drawing/2014/main" id="{905AB185-C600-4C2D-B2BB-2F20968D4FE3}"/>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3452291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L’Oréal Brand Name:</a:t>
            </a:r>
            <a:r>
              <a:rPr lang="en-US"/>
              <a:t> In the market research, we found that the L’Oréal brand name resonated well, but people did not recognize or care about the Plénitude name. Jordan will explain how and why we recommend deemphasizing the Plenitude branding and instead emphasize the L’Oréal name. </a:t>
            </a:r>
          </a:p>
          <a:p>
            <a:r>
              <a:rPr lang="en-US"/>
              <a:t>  </a:t>
            </a:r>
            <a:endParaRPr lang="en-US">
              <a:cs typeface="Calibri"/>
            </a:endParaRPr>
          </a:p>
          <a:p>
            <a:r>
              <a:rPr lang="en-US" b="1"/>
              <a:t>The Product Line:</a:t>
            </a:r>
            <a:r>
              <a:rPr lang="en-US"/>
              <a:t> The market research also revealed that consumers felt the Plenitude regimen is not easily distinguishable. Matt will help us understand how L’Oréal can market the products to specific age groups, so customers easily understand which products should purchase.  </a:t>
            </a:r>
          </a:p>
          <a:p>
            <a:r>
              <a:rPr lang="en-US" b="1"/>
              <a:t> </a:t>
            </a:r>
            <a:r>
              <a:rPr lang="en-US"/>
              <a:t> </a:t>
            </a:r>
            <a:endParaRPr lang="en-US">
              <a:cs typeface="Calibri"/>
            </a:endParaRPr>
          </a:p>
          <a:p>
            <a:r>
              <a:rPr lang="en-US" b="1"/>
              <a:t>Plenitude Packaging:</a:t>
            </a:r>
            <a:r>
              <a:rPr lang="en-US"/>
              <a:t> In the acceptor/rejector studies, several women pointed out that the product packaging felt confusing and overwhelming. This doesn’t give consumers a good first impression of the products, so Vinay will address how L’Oréal can work to improve their packaging. </a:t>
            </a:r>
          </a:p>
          <a:p>
            <a:r>
              <a:rPr lang="en-US" b="1"/>
              <a:t> </a:t>
            </a:r>
            <a:r>
              <a:rPr lang="en-US"/>
              <a:t> </a:t>
            </a:r>
            <a:endParaRPr lang="en-US">
              <a:cs typeface="Calibri"/>
            </a:endParaRPr>
          </a:p>
          <a:p>
            <a:r>
              <a:rPr lang="en-US" b="1"/>
              <a:t>Promotional Strategies:</a:t>
            </a:r>
            <a:r>
              <a:rPr lang="en-US"/>
              <a:t> In the Facial Skin Care Market Study, we found that both awareness and trial have a lot of room to grow. L’Oréal needs to work harder to emphasize the trial of their products.  And Jocelyn has some recommendations for the team to follow. </a:t>
            </a:r>
          </a:p>
          <a:p>
            <a:r>
              <a:rPr lang="en-US" b="1"/>
              <a:t> </a:t>
            </a:r>
            <a:r>
              <a:rPr lang="en-US"/>
              <a:t> </a:t>
            </a:r>
            <a:endParaRPr lang="en-US">
              <a:cs typeface="Calibri"/>
            </a:endParaRPr>
          </a:p>
          <a:p>
            <a:r>
              <a:rPr lang="en-US" b="1"/>
              <a:t>The Customer Experience: </a:t>
            </a:r>
            <a:r>
              <a:rPr lang="en-US"/>
              <a:t>We want to make sure L’Oréal is able to create the department store experience in the HBA aisles of drugstores and big box stores. All of the previous recommendations up here will impact this goal, but I'll explain why it's so important to the Plenitude future. </a:t>
            </a:r>
          </a:p>
          <a:p>
            <a:endParaRPr lang="en-US"/>
          </a:p>
          <a:p>
            <a:r>
              <a:rPr lang="en-US" b="1"/>
              <a:t>NEXT: Jordan  </a:t>
            </a:r>
          </a:p>
        </p:txBody>
      </p:sp>
      <p:sp>
        <p:nvSpPr>
          <p:cNvPr id="5" name="Date Placeholder 4">
            <a:extLst>
              <a:ext uri="{FF2B5EF4-FFF2-40B4-BE49-F238E27FC236}">
                <a16:creationId xmlns:a16="http://schemas.microsoft.com/office/drawing/2014/main" id="{02FD0DBA-A06A-4C9F-9983-866E5D27E2BB}"/>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631324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1" i="0" kern="1200">
                <a:solidFill>
                  <a:schemeClr val="tx1"/>
                </a:solidFill>
                <a:effectLst/>
                <a:latin typeface="+mn-lt"/>
                <a:ea typeface="+mn-ea"/>
                <a:cs typeface="+mn-cs"/>
              </a:rPr>
              <a:t>Brand Name (Jordan):</a:t>
            </a:r>
            <a:r>
              <a:rPr lang="en-US" sz="1200" b="0" i="0" kern="1200">
                <a:solidFill>
                  <a:schemeClr val="tx1"/>
                </a:solidFill>
                <a:effectLst/>
                <a:latin typeface="+mn-lt"/>
                <a:ea typeface="+mn-ea"/>
                <a:cs typeface="+mn-cs"/>
              </a:rPr>
              <a:t> In the market research, we found that the L’Oréal brand name resonated well, but people did not recognize the Plenitude name. We would recommend deemphasizing the Plenitude name and instead emphasizing L’Oréal brand. We know that the L’Oréal name resonates as innovative and high-quality. </a:t>
            </a:r>
            <a:endParaRPr lang="en-US"/>
          </a:p>
          <a:p>
            <a:pPr marL="0" lvl="1"/>
            <a:endParaRPr lang="en-US">
              <a:cs typeface="Calibri"/>
            </a:endParaRPr>
          </a:p>
          <a:p>
            <a:pPr marL="0" lvl="1"/>
            <a:r>
              <a:rPr lang="en-US" b="1">
                <a:cs typeface="Calibri"/>
              </a:rPr>
              <a:t>NEXT: Matt</a:t>
            </a:r>
          </a:p>
        </p:txBody>
      </p:sp>
      <p:sp>
        <p:nvSpPr>
          <p:cNvPr id="5" name="Date Placeholder 4">
            <a:extLst>
              <a:ext uri="{FF2B5EF4-FFF2-40B4-BE49-F238E27FC236}">
                <a16:creationId xmlns:a16="http://schemas.microsoft.com/office/drawing/2014/main" id="{8026FD4B-ABE5-4236-9504-D60175BFEEA0}"/>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968889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The Product Line (Matt):</a:t>
            </a:r>
            <a:r>
              <a:rPr lang="en-US" sz="1200" b="0" i="0" kern="1200">
                <a:solidFill>
                  <a:schemeClr val="tx1"/>
                </a:solidFill>
                <a:effectLst/>
                <a:latin typeface="+mn-lt"/>
                <a:ea typeface="+mn-ea"/>
                <a:cs typeface="+mn-cs"/>
              </a:rPr>
              <a:t> While the market research revealed that consumers felt there were many products in the product line, it’s not easily distinguishable which products are for specific age groups. Splitting out the products by target age group (reduce fine lines vs. reverses the signs of aging), may help the perception that Plénitude is only for older women. Addressing the products’ formulas for a younger age group and US expectations of moisturizer</a:t>
            </a:r>
          </a:p>
          <a:p>
            <a:endParaRPr lang="en-US" sz="1200" b="0" i="0" kern="1200">
              <a:solidFill>
                <a:schemeClr val="tx1"/>
              </a:solidFill>
              <a:effectLst/>
              <a:latin typeface="+mn-lt"/>
              <a:ea typeface="+mn-ea"/>
              <a:cs typeface="+mn-cs"/>
            </a:endParaRPr>
          </a:p>
          <a:p>
            <a:pPr marL="0" indent="0">
              <a:buFont typeface="Arial"/>
              <a:buNone/>
            </a:pPr>
            <a:r>
              <a:rPr lang="en-US" b="1"/>
              <a:t>NEXT: Vinay</a:t>
            </a:r>
          </a:p>
          <a:p>
            <a:pPr marL="0" lvl="1"/>
            <a:endParaRPr lang="en-US">
              <a:cs typeface="Calibri"/>
            </a:endParaRPr>
          </a:p>
        </p:txBody>
      </p:sp>
      <p:sp>
        <p:nvSpPr>
          <p:cNvPr id="5" name="Date Placeholder 4">
            <a:extLst>
              <a:ext uri="{FF2B5EF4-FFF2-40B4-BE49-F238E27FC236}">
                <a16:creationId xmlns:a16="http://schemas.microsoft.com/office/drawing/2014/main" id="{E19907FA-99BB-407D-89D4-40A109611F42}"/>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2945650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a:solidFill>
                  <a:schemeClr val="tx1"/>
                </a:solidFill>
                <a:effectLst/>
                <a:latin typeface="+mn-lt"/>
                <a:ea typeface="+mn-ea"/>
                <a:cs typeface="+mn-cs"/>
              </a:rPr>
              <a:t>Packaging: (Vinay) </a:t>
            </a:r>
            <a:r>
              <a:rPr lang="en-US" sz="1200" b="0" i="0" kern="1200">
                <a:solidFill>
                  <a:schemeClr val="tx1"/>
                </a:solidFill>
                <a:effectLst/>
                <a:latin typeface="+mn-lt"/>
                <a:ea typeface="+mn-ea"/>
                <a:cs typeface="+mn-cs"/>
              </a:rPr>
              <a:t>The first impression of the products in store is overwhelming with text.  </a:t>
            </a:r>
          </a:p>
          <a:p>
            <a:pPr rtl="0" fontAlgn="base"/>
            <a:r>
              <a:rPr lang="en-US" sz="1200" b="0" i="0" kern="1200">
                <a:solidFill>
                  <a:schemeClr val="tx1"/>
                </a:solidFill>
                <a:effectLst/>
                <a:latin typeface="+mn-lt"/>
                <a:ea typeface="+mn-ea"/>
                <a:cs typeface="+mn-cs"/>
              </a:rPr>
              <a:t>·         Packaging is important - after considering the market research, cleaning up the packaging - graphical on front (key messaging), back of package would include details.  </a:t>
            </a:r>
          </a:p>
          <a:p>
            <a:pPr rtl="0" fontAlgn="base"/>
            <a:r>
              <a:rPr lang="en-US" sz="1200" b="0" i="0" kern="1200">
                <a:solidFill>
                  <a:schemeClr val="tx1"/>
                </a:solidFill>
                <a:effectLst/>
                <a:latin typeface="+mn-lt"/>
                <a:ea typeface="+mn-ea"/>
                <a:cs typeface="+mn-cs"/>
              </a:rPr>
              <a:t>·         Also determined from market research – “Names for products could be more distinguishable.” </a:t>
            </a:r>
          </a:p>
          <a:p>
            <a:pPr marL="0" lvl="1"/>
            <a:r>
              <a:rPr lang="en-US" b="1">
                <a:cs typeface="Calibri"/>
              </a:rPr>
              <a:t>NEXT: Jocelyn</a:t>
            </a:r>
          </a:p>
        </p:txBody>
      </p:sp>
      <p:sp>
        <p:nvSpPr>
          <p:cNvPr id="5" name="Date Placeholder 4">
            <a:extLst>
              <a:ext uri="{FF2B5EF4-FFF2-40B4-BE49-F238E27FC236}">
                <a16:creationId xmlns:a16="http://schemas.microsoft.com/office/drawing/2014/main" id="{0B4D5288-60D4-417D-AE27-B449830D9402}"/>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2725828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kern="1200">
                <a:solidFill>
                  <a:schemeClr val="tx1"/>
                </a:solidFill>
                <a:effectLst/>
                <a:latin typeface="+mn-lt"/>
                <a:ea typeface="+mn-ea"/>
                <a:cs typeface="+mn-cs"/>
              </a:rPr>
              <a:t>Promotion Strategies (Jocelyn):</a:t>
            </a:r>
            <a:r>
              <a:rPr lang="en-US" sz="1200" kern="1200">
                <a:solidFill>
                  <a:schemeClr val="tx1"/>
                </a:solidFill>
                <a:effectLst/>
                <a:latin typeface="+mn-lt"/>
                <a:ea typeface="+mn-ea"/>
                <a:cs typeface="+mn-cs"/>
              </a:rPr>
              <a:t> In the Facial Skin Care Market Study, we found that both awareness and trial both have a lot of room to grow. L’Oréal needs to work harder to emphasize the trial of their products. </a:t>
            </a:r>
          </a:p>
          <a:p>
            <a:pPr fontAlgn="base"/>
            <a:endParaRPr lang="en-US" sz="1200" kern="1200">
              <a:solidFill>
                <a:schemeClr val="tx1"/>
              </a:solidFill>
              <a:effectLst/>
              <a:latin typeface="+mn-lt"/>
              <a:ea typeface="+mn-ea"/>
              <a:cs typeface="+mn-cs"/>
            </a:endParaRPr>
          </a:p>
          <a:p>
            <a:pPr lvl="0" fontAlgn="base"/>
            <a:r>
              <a:rPr lang="en-US" sz="1200" b="1" kern="1200">
                <a:solidFill>
                  <a:schemeClr val="tx1"/>
                </a:solidFill>
                <a:effectLst/>
                <a:latin typeface="+mn-lt"/>
                <a:ea typeface="+mn-ea"/>
                <a:cs typeface="+mn-cs"/>
              </a:rPr>
              <a:t>NEXT: Katie</a:t>
            </a:r>
            <a:endParaRPr lang="en-US" sz="1400" b="1" kern="1200">
              <a:solidFill>
                <a:schemeClr val="tx1"/>
              </a:solidFill>
              <a:effectLst/>
              <a:latin typeface="+mn-lt"/>
              <a:ea typeface="+mn-ea"/>
              <a:cs typeface="+mn-cs"/>
            </a:endParaRPr>
          </a:p>
          <a:p>
            <a:pPr marL="0" lvl="1"/>
            <a:endParaRPr lang="en-US">
              <a:cs typeface="Calibri"/>
            </a:endParaRPr>
          </a:p>
        </p:txBody>
      </p:sp>
      <p:sp>
        <p:nvSpPr>
          <p:cNvPr id="5" name="Date Placeholder 4">
            <a:extLst>
              <a:ext uri="{FF2B5EF4-FFF2-40B4-BE49-F238E27FC236}">
                <a16:creationId xmlns:a16="http://schemas.microsoft.com/office/drawing/2014/main" id="{852D17D2-68C8-44BB-8F48-34C5342BCEBA}"/>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1828204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kern="1200">
                <a:solidFill>
                  <a:schemeClr val="tx1"/>
                </a:solidFill>
                <a:effectLst/>
                <a:latin typeface="+mn-lt"/>
                <a:ea typeface="+mn-ea"/>
                <a:cs typeface="+mn-cs"/>
              </a:rPr>
              <a:t>Sales Experience: (Katie)</a:t>
            </a:r>
            <a:r>
              <a:rPr lang="en-US" sz="1200" kern="1200">
                <a:solidFill>
                  <a:schemeClr val="tx1"/>
                </a:solidFill>
                <a:effectLst/>
                <a:latin typeface="+mn-lt"/>
                <a:ea typeface="+mn-ea"/>
                <a:cs typeface="+mn-cs"/>
              </a:rPr>
              <a:t> We want to make sure L’Oréal is able to create the department store experience in the HBA aisles of drugstores and big box stores. So the question is, how can L’Oréal inform customers, as if there’s a helpful salesperson present, without overwhelming at the point of sale?</a:t>
            </a:r>
          </a:p>
          <a:p>
            <a:pPr fontAlgn="base"/>
            <a:endParaRPr lang="en-US" sz="1200" kern="1200">
              <a:solidFill>
                <a:schemeClr val="tx1"/>
              </a:solidFill>
              <a:effectLst/>
              <a:latin typeface="+mn-lt"/>
              <a:ea typeface="+mn-ea"/>
              <a:cs typeface="+mn-cs"/>
            </a:endParaRPr>
          </a:p>
          <a:p>
            <a:pPr fontAlgn="base"/>
            <a:r>
              <a:rPr lang="en-US" sz="1200" kern="1200">
                <a:solidFill>
                  <a:schemeClr val="tx1"/>
                </a:solidFill>
                <a:effectLst/>
                <a:latin typeface="+mn-lt"/>
                <a:ea typeface="+mn-ea"/>
                <a:cs typeface="+mn-cs"/>
              </a:rPr>
              <a:t>A lot of the recommendations my teammates have already discussed will help achieve this goal – Emphasizing L'Oréal, promoting regimens by age-group, and updating the packaging to appear less overwhelming on the front, with helpful names and categories of regimen, while still providing details elsewhere on the package.</a:t>
            </a:r>
            <a:r>
              <a:rPr lang="en-US"/>
              <a:t> These will all play an important role in making the shopping experience easy for the customer without a salesperson.</a:t>
            </a:r>
            <a:endParaRPr lang="en-US" sz="1200" kern="1200">
              <a:solidFill>
                <a:schemeClr val="tx1"/>
              </a:solidFill>
              <a:effectLst/>
              <a:latin typeface="+mn-lt"/>
              <a:cs typeface="Calibri"/>
            </a:endParaRPr>
          </a:p>
          <a:p>
            <a:pPr lvl="0" fontAlgn="base"/>
            <a:endParaRPr lang="en-US" sz="1200" kern="120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We want Plenitude products to feel superior to their mass-market competitors, but we need them to remain accessible enough that people will try them. The perceptual map of survey respondents who are familiar with Plenitude place it very close in relation with Clinique and Estee Lauder. People think of L’Oréal Plenitude as a department store quality brand, without the department store prices. This is great. However, these people also identified that the products are “not available where I shop,” indicating that it does not feel like an accessible product. We can do more in-store and in-ads communications to make it clear that Plenitude products are widely available where they shop. Grocery stores, pharmacies, and big box stores all carry the products. With the recommendations we’ve outlined, we think </a:t>
            </a:r>
            <a:r>
              <a:rPr lang="en-US" sz="1200" kern="1200" err="1">
                <a:solidFill>
                  <a:schemeClr val="tx1"/>
                </a:solidFill>
                <a:effectLst/>
                <a:latin typeface="+mn-lt"/>
                <a:ea typeface="+mn-ea"/>
                <a:cs typeface="+mn-cs"/>
              </a:rPr>
              <a:t>L’Oreal</a:t>
            </a:r>
            <a:r>
              <a:rPr lang="en-US" sz="1200" kern="1200">
                <a:solidFill>
                  <a:schemeClr val="tx1"/>
                </a:solidFill>
                <a:effectLst/>
                <a:latin typeface="+mn-lt"/>
                <a:ea typeface="+mn-ea"/>
                <a:cs typeface="+mn-cs"/>
              </a:rPr>
              <a:t> can maintain their superior brand image, while still making it clear that the product is easy to purchase. </a:t>
            </a:r>
          </a:p>
          <a:p>
            <a:pPr lvl="0" fontAlgn="base"/>
            <a:endParaRPr lang="en-US" sz="1200" kern="1200">
              <a:solidFill>
                <a:schemeClr val="tx1"/>
              </a:solidFill>
              <a:effectLst/>
              <a:latin typeface="+mn-lt"/>
              <a:ea typeface="+mn-ea"/>
              <a:cs typeface="+mn-cs"/>
            </a:endParaRPr>
          </a:p>
        </p:txBody>
      </p:sp>
      <p:sp>
        <p:nvSpPr>
          <p:cNvPr id="5" name="Date Placeholder 4">
            <a:extLst>
              <a:ext uri="{FF2B5EF4-FFF2-40B4-BE49-F238E27FC236}">
                <a16:creationId xmlns:a16="http://schemas.microsoft.com/office/drawing/2014/main" id="{718EEB2E-B9C8-4CA6-B8D1-20F9EB3FDBC2}"/>
              </a:ext>
            </a:extLst>
          </p:cNvPr>
          <p:cNvSpPr>
            <a:spLocks noGrp="1"/>
          </p:cNvSpPr>
          <p:nvPr>
            <p:ph type="dt" idx="1"/>
          </p:nvPr>
        </p:nvSpPr>
        <p:spPr/>
        <p:txBody>
          <a:bodyPr/>
          <a:lstStyle/>
          <a:p>
            <a:endParaRPr lang="en-US" noProof="0"/>
          </a:p>
        </p:txBody>
      </p:sp>
    </p:spTree>
    <p:extLst>
      <p:ext uri="{BB962C8B-B14F-4D97-AF65-F5344CB8AC3E}">
        <p14:creationId xmlns:p14="http://schemas.microsoft.com/office/powerpoint/2010/main" val="401892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pic>
        <p:nvPicPr>
          <p:cNvPr id="12" name="Picture 11" descr="A picture containing sitting, pink, black, large&#10;&#10;Description automatically generated">
            <a:extLst>
              <a:ext uri="{FF2B5EF4-FFF2-40B4-BE49-F238E27FC236}">
                <a16:creationId xmlns:a16="http://schemas.microsoft.com/office/drawing/2014/main" id="{1391861E-DFAB-486B-865D-3466D6DFF0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274" y="63691"/>
            <a:ext cx="9911201" cy="6721827"/>
          </a:xfrm>
          <a:prstGeom prst="rect">
            <a:avLst/>
          </a:prstGeom>
        </p:spPr>
      </p:pic>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445086" y="1807950"/>
            <a:ext cx="5184913" cy="432000"/>
          </a:xfrm>
        </p:spPr>
        <p:txBody>
          <a:bodyPr/>
          <a:lstStyle>
            <a:lvl1pPr algn="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444886" y="2383950"/>
            <a:ext cx="5184913" cy="360000"/>
          </a:xfrm>
        </p:spPr>
        <p:txBody>
          <a:bodyPr/>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445000" y="2908300"/>
            <a:ext cx="5184800" cy="3283700"/>
          </a:xfrm>
          <a:solidFill>
            <a:schemeClr val="bg1"/>
          </a:solidFill>
        </p:spPr>
        <p:txBody>
          <a:bodyPr lIns="180000" tIns="252000" rIns="25200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3823393" y="1343906"/>
            <a:ext cx="3736800" cy="3933645"/>
          </a:xfrm>
          <a:solidFill>
            <a:schemeClr val="bg1"/>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a:p>
        </p:txBody>
      </p:sp>
      <p:sp>
        <p:nvSpPr>
          <p:cNvPr id="9" name="Picture Placeholder 6">
            <a:extLst>
              <a:ext uri="{FF2B5EF4-FFF2-40B4-BE49-F238E27FC236}">
                <a16:creationId xmlns:a16="http://schemas.microsoft.com/office/drawing/2014/main"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a:t>Insert or Drag &amp; Drop your photo</a:t>
            </a:r>
          </a:p>
        </p:txBody>
      </p:sp>
      <p:sp>
        <p:nvSpPr>
          <p:cNvPr id="6" name="Title 5">
            <a:extLst>
              <a:ext uri="{FF2B5EF4-FFF2-40B4-BE49-F238E27FC236}">
                <a16:creationId xmlns:a16="http://schemas.microsoft.com/office/drawing/2014/main" id="{7F4F1543-153D-4F77-A4A9-C9BBA1C2052E}"/>
              </a:ext>
            </a:extLst>
          </p:cNvPr>
          <p:cNvSpPr>
            <a:spLocks noGrp="1"/>
          </p:cNvSpPr>
          <p:nvPr>
            <p:ph type="title"/>
          </p:nvPr>
        </p:nvSpPr>
        <p:spPr>
          <a:xfrm>
            <a:off x="432000" y="432000"/>
            <a:ext cx="9131100" cy="432000"/>
          </a:xfrm>
        </p:spPr>
        <p:txBody>
          <a:bodyPr/>
          <a:lstStyle/>
          <a:p>
            <a:r>
              <a:rPr lang="en-US" noProof="0"/>
              <a:t>Click to edit Master title style</a:t>
            </a:r>
          </a:p>
        </p:txBody>
      </p:sp>
      <p:sp>
        <p:nvSpPr>
          <p:cNvPr id="11" name="Subtitle 2">
            <a:extLst>
              <a:ext uri="{FF2B5EF4-FFF2-40B4-BE49-F238E27FC236}">
                <a16:creationId xmlns:a16="http://schemas.microsoft.com/office/drawing/2014/main" id="{9FAA210E-391A-499A-89D5-F222045FD1A4}"/>
              </a:ext>
            </a:extLst>
          </p:cNvPr>
          <p:cNvSpPr>
            <a:spLocks noGrp="1"/>
          </p:cNvSpPr>
          <p:nvPr>
            <p:ph type="body" sz="quarter" idx="32" hasCustomPrompt="1"/>
          </p:nvPr>
        </p:nvSpPr>
        <p:spPr>
          <a:xfrm>
            <a:off x="431800" y="1008000"/>
            <a:ext cx="68959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432296"/>
            <a:ext cx="4500000" cy="527076"/>
          </a:xfrm>
          <a:solidFill>
            <a:schemeClr val="tx1"/>
          </a:solidFill>
        </p:spPr>
        <p:txBody>
          <a:bodyPr lIns="180000" tIns="3600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4500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5129800" y="1433105"/>
            <a:ext cx="4500000" cy="525283"/>
          </a:xfrm>
          <a:solidFill>
            <a:schemeClr val="tx1"/>
          </a:solidFill>
        </p:spPr>
        <p:txBody>
          <a:bodyPr lIns="180000" tIns="36000" anchor="ctr"/>
          <a:lstStyle>
            <a:lvl1pPr marL="0" indent="0">
              <a:buNone/>
              <a:defRPr sz="2400" b="1" spc="-150">
                <a:solidFill>
                  <a:schemeClr val="bg1"/>
                </a:solidFill>
                <a:latin typeface="+mj-lt"/>
              </a:defRPr>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5129800" y="2020359"/>
            <a:ext cx="4500000" cy="417089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75314" y="5096632"/>
            <a:ext cx="2028686" cy="1094618"/>
          </a:xfrm>
        </p:spPr>
        <p:txBody>
          <a:bodyPr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a:p>
        </p:txBody>
      </p:sp>
      <p:sp>
        <p:nvSpPr>
          <p:cNvPr id="5" name="Title 4">
            <a:extLst>
              <a:ext uri="{FF2B5EF4-FFF2-40B4-BE49-F238E27FC236}">
                <a16:creationId xmlns:a16="http://schemas.microsoft.com/office/drawing/2014/main" id="{28F8443E-0D06-4057-933B-C87E884C5F72}"/>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74360" y="2112793"/>
            <a:ext cx="6798250" cy="1674470"/>
          </a:xfrm>
        </p:spPr>
        <p:txBody>
          <a:bodyPr anchor="ctr"/>
          <a:lstStyle>
            <a:lvl1pPr algn="ctr">
              <a:lnSpc>
                <a:spcPct val="100000"/>
              </a:lnSpc>
              <a:defRPr sz="6000" b="1" cap="all" spc="-300" baseline="0">
                <a:solidFill>
                  <a:schemeClr val="tx1"/>
                </a:solidFill>
                <a:latin typeface="+mj-lt"/>
              </a:defRPr>
            </a:lvl1pPr>
          </a:lstStyle>
          <a:p>
            <a:r>
              <a:rPr lang="en-US" noProof="0"/>
              <a:t>Thank you</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 Placeholder 5">
            <a:extLst>
              <a:ext uri="{FF2B5EF4-FFF2-40B4-BE49-F238E27FC236}">
                <a16:creationId xmlns:a16="http://schemas.microsoft.com/office/drawing/2014/main" id="{CA3EFDD3-A9D2-4EB6-BB2A-F6999D9F7EA6}"/>
              </a:ext>
            </a:extLst>
          </p:cNvPr>
          <p:cNvSpPr>
            <a:spLocks noGrp="1"/>
          </p:cNvSpPr>
          <p:nvPr>
            <p:ph type="body" sz="quarter" idx="15" hasCustomPrompt="1"/>
          </p:nvPr>
        </p:nvSpPr>
        <p:spPr>
          <a:xfrm>
            <a:off x="2174361" y="4035727"/>
            <a:ext cx="3329850" cy="382887"/>
          </a:xfrm>
        </p:spPr>
        <p:txBody>
          <a:bodyPr/>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2" name="Text Placeholder 6">
            <a:extLst>
              <a:ext uri="{FF2B5EF4-FFF2-40B4-BE49-F238E27FC236}">
                <a16:creationId xmlns:a16="http://schemas.microsoft.com/office/drawing/2014/main" id="{261ED1F7-B623-43D9-9BDA-8808C5CFAFFB}"/>
              </a:ext>
            </a:extLst>
          </p:cNvPr>
          <p:cNvSpPr>
            <a:spLocks noGrp="1"/>
          </p:cNvSpPr>
          <p:nvPr>
            <p:ph type="body" sz="quarter" idx="16" hasCustomPrompt="1"/>
          </p:nvPr>
        </p:nvSpPr>
        <p:spPr>
          <a:xfrm>
            <a:off x="6062268" y="4150118"/>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3" name="Text Placeholder 7">
            <a:extLst>
              <a:ext uri="{FF2B5EF4-FFF2-40B4-BE49-F238E27FC236}">
                <a16:creationId xmlns:a16="http://schemas.microsoft.com/office/drawing/2014/main" id="{E27366FC-4115-4122-9CE2-5FA9D424AD51}"/>
              </a:ext>
            </a:extLst>
          </p:cNvPr>
          <p:cNvSpPr>
            <a:spLocks noGrp="1"/>
          </p:cNvSpPr>
          <p:nvPr>
            <p:ph type="body" sz="quarter" idx="17" hasCustomPrompt="1"/>
          </p:nvPr>
        </p:nvSpPr>
        <p:spPr>
          <a:xfrm>
            <a:off x="6062268" y="4540691"/>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4" name="Text Placeholder 8">
            <a:extLst>
              <a:ext uri="{FF2B5EF4-FFF2-40B4-BE49-F238E27FC236}">
                <a16:creationId xmlns:a16="http://schemas.microsoft.com/office/drawing/2014/main" id="{DEB36829-2F8B-4E22-AB6D-4111D18AF847}"/>
              </a:ext>
            </a:extLst>
          </p:cNvPr>
          <p:cNvSpPr>
            <a:spLocks noGrp="1"/>
          </p:cNvSpPr>
          <p:nvPr>
            <p:ph type="body" sz="quarter" idx="18" hasCustomPrompt="1"/>
          </p:nvPr>
        </p:nvSpPr>
        <p:spPr>
          <a:xfrm>
            <a:off x="6062268" y="4931263"/>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3442953D-28FC-41B5-A1BB-BB3BA7CA40BE}"/>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916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3572900" y="1511476"/>
            <a:ext cx="291600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6713800" y="1511475"/>
            <a:ext cx="291600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1764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290450" y="1512000"/>
            <a:ext cx="176400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4148900" y="1512000"/>
            <a:ext cx="176400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6007350" y="1507535"/>
            <a:ext cx="176400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7865800" y="1507535"/>
            <a:ext cx="1764000"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B5A8293F-A5B5-4FCC-BF27-A25B1BAFF245}"/>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a:t>Add a footer</a:t>
            </a:r>
          </a:p>
        </p:txBody>
      </p:sp>
      <p:sp>
        <p:nvSpPr>
          <p:cNvPr id="4" name="Slide Number Placeholder 3">
            <a:extLst>
              <a:ext uri="{FF2B5EF4-FFF2-40B4-BE49-F238E27FC236}">
                <a16:creationId xmlns:a16="http://schemas.microsoft.com/office/drawing/2014/main" id="{8E801980-CBAE-4A50-886D-54D7BB2E1947}"/>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a:p>
        </p:txBody>
      </p:sp>
      <p:sp>
        <p:nvSpPr>
          <p:cNvPr id="9" name="Subtitle 2">
            <a:extLst>
              <a:ext uri="{FF2B5EF4-FFF2-40B4-BE49-F238E27FC236}">
                <a16:creationId xmlns:a16="http://schemas.microsoft.com/office/drawing/2014/main" id="{07666241-4AF6-458A-A571-6C6C291D72F1}"/>
              </a:ext>
            </a:extLst>
          </p:cNvPr>
          <p:cNvSpPr>
            <a:spLocks noGrp="1"/>
          </p:cNvSpPr>
          <p:nvPr>
            <p:ph type="subTitle" idx="1"/>
          </p:nvPr>
        </p:nvSpPr>
        <p:spPr>
          <a:xfrm>
            <a:off x="6532775" y="3639199"/>
            <a:ext cx="5053936"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6" name="Title 5">
            <a:extLst>
              <a:ext uri="{FF2B5EF4-FFF2-40B4-BE49-F238E27FC236}">
                <a16:creationId xmlns:a16="http://schemas.microsoft.com/office/drawing/2014/main" id="{6F4F2BBF-F210-4954-9C73-A0030AACDDFE}"/>
              </a:ext>
            </a:extLst>
          </p:cNvPr>
          <p:cNvSpPr>
            <a:spLocks noGrp="1"/>
          </p:cNvSpPr>
          <p:nvPr>
            <p:ph type="title" hasCustomPrompt="1"/>
          </p:nvPr>
        </p:nvSpPr>
        <p:spPr>
          <a:xfrm>
            <a:off x="6532775" y="993303"/>
            <a:ext cx="5053936" cy="2513468"/>
          </a:xfrm>
        </p:spPr>
        <p:txBody>
          <a:bodyPr/>
          <a:lstStyle>
            <a:lvl1pPr>
              <a:defRPr sz="5400" cap="none">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217260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p:nvPr>
        </p:nvSpPr>
        <p:spPr>
          <a:xfrm>
            <a:off x="432000" y="1046375"/>
            <a:ext cx="9198000" cy="5130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13996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
        <p:nvSpPr>
          <p:cNvPr id="7" name="Content Placeholder 2">
            <a:extLst>
              <a:ext uri="{FF2B5EF4-FFF2-40B4-BE49-F238E27FC236}">
                <a16:creationId xmlns:a16="http://schemas.microsoft.com/office/drawing/2014/main" id="{EAE43F4C-1A64-4197-A44B-E6EB874E243B}"/>
              </a:ext>
            </a:extLst>
          </p:cNvPr>
          <p:cNvSpPr>
            <a:spLocks noGrp="1"/>
          </p:cNvSpPr>
          <p:nvPr>
            <p:ph sz="half" idx="1"/>
          </p:nvPr>
        </p:nvSpPr>
        <p:spPr>
          <a:xfrm>
            <a:off x="432000" y="1046376"/>
            <a:ext cx="4435831" cy="5130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a:extLst>
              <a:ext uri="{FF2B5EF4-FFF2-40B4-BE49-F238E27FC236}">
                <a16:creationId xmlns:a16="http://schemas.microsoft.com/office/drawing/2014/main" id="{D7B3F5B8-DC28-4878-AC9F-D434D7542D8F}"/>
              </a:ext>
            </a:extLst>
          </p:cNvPr>
          <p:cNvSpPr>
            <a:spLocks noGrp="1"/>
          </p:cNvSpPr>
          <p:nvPr>
            <p:ph sz="half" idx="2"/>
          </p:nvPr>
        </p:nvSpPr>
        <p:spPr>
          <a:xfrm>
            <a:off x="5194169" y="1046376"/>
            <a:ext cx="4435831" cy="5130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28349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
        <p:nvSpPr>
          <p:cNvPr id="7" name="Text Placeholder 2">
            <a:extLst>
              <a:ext uri="{FF2B5EF4-FFF2-40B4-BE49-F238E27FC236}">
                <a16:creationId xmlns:a16="http://schemas.microsoft.com/office/drawing/2014/main" id="{CB97B01E-88B2-448F-BD96-A1AAFA39AC1E}"/>
              </a:ext>
            </a:extLst>
          </p:cNvPr>
          <p:cNvSpPr>
            <a:spLocks noGrp="1"/>
          </p:cNvSpPr>
          <p:nvPr>
            <p:ph type="body" idx="1"/>
          </p:nvPr>
        </p:nvSpPr>
        <p:spPr>
          <a:xfrm>
            <a:off x="43200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8" name="Text Placeholder 4">
            <a:extLst>
              <a:ext uri="{FF2B5EF4-FFF2-40B4-BE49-F238E27FC236}">
                <a16:creationId xmlns:a16="http://schemas.microsoft.com/office/drawing/2014/main" id="{40BADDE2-4EE6-41B4-804C-EBF680128B40}"/>
              </a:ext>
            </a:extLst>
          </p:cNvPr>
          <p:cNvSpPr>
            <a:spLocks noGrp="1"/>
          </p:cNvSpPr>
          <p:nvPr>
            <p:ph type="body" sz="quarter" idx="3"/>
          </p:nvPr>
        </p:nvSpPr>
        <p:spPr>
          <a:xfrm>
            <a:off x="519516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9" name="Content Placeholder 3">
            <a:extLst>
              <a:ext uri="{FF2B5EF4-FFF2-40B4-BE49-F238E27FC236}">
                <a16:creationId xmlns:a16="http://schemas.microsoft.com/office/drawing/2014/main" id="{BB0A14E0-899D-4594-BC9E-AE89BF0D3AB7}"/>
              </a:ext>
            </a:extLst>
          </p:cNvPr>
          <p:cNvSpPr>
            <a:spLocks noGrp="1"/>
          </p:cNvSpPr>
          <p:nvPr>
            <p:ph sz="half" idx="2"/>
          </p:nvPr>
        </p:nvSpPr>
        <p:spPr>
          <a:xfrm>
            <a:off x="432001" y="2096752"/>
            <a:ext cx="4434840" cy="409291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5">
            <a:extLst>
              <a:ext uri="{FF2B5EF4-FFF2-40B4-BE49-F238E27FC236}">
                <a16:creationId xmlns:a16="http://schemas.microsoft.com/office/drawing/2014/main" id="{2C699014-D902-4E9A-80CD-8D2BCFE67097}"/>
              </a:ext>
            </a:extLst>
          </p:cNvPr>
          <p:cNvSpPr>
            <a:spLocks noGrp="1"/>
          </p:cNvSpPr>
          <p:nvPr>
            <p:ph sz="quarter" idx="4"/>
          </p:nvPr>
        </p:nvSpPr>
        <p:spPr>
          <a:xfrm>
            <a:off x="5195160" y="2096752"/>
            <a:ext cx="4434840" cy="409291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253289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Content Placeholder 2">
            <a:extLst>
              <a:ext uri="{FF2B5EF4-FFF2-40B4-BE49-F238E27FC236}">
                <a16:creationId xmlns:a16="http://schemas.microsoft.com/office/drawing/2014/main" id="{79F53EF1-D412-467C-B7CE-30536F140AE1}"/>
              </a:ext>
            </a:extLst>
          </p:cNvPr>
          <p:cNvSpPr>
            <a:spLocks noGrp="1"/>
          </p:cNvSpPr>
          <p:nvPr>
            <p:ph idx="1"/>
          </p:nvPr>
        </p:nvSpPr>
        <p:spPr>
          <a:xfrm>
            <a:off x="3770722" y="457201"/>
            <a:ext cx="6023727" cy="5726784"/>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14757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Picture Placeholder 2">
            <a:extLst>
              <a:ext uri="{FF2B5EF4-FFF2-40B4-BE49-F238E27FC236}">
                <a16:creationId xmlns:a16="http://schemas.microsoft.com/office/drawing/2014/main" id="{10319378-269C-406E-9B84-FCF22DA02EFF}"/>
              </a:ext>
            </a:extLst>
          </p:cNvPr>
          <p:cNvSpPr>
            <a:spLocks noGrp="1"/>
          </p:cNvSpPr>
          <p:nvPr>
            <p:ph type="pic" idx="1"/>
          </p:nvPr>
        </p:nvSpPr>
        <p:spPr>
          <a:xfrm>
            <a:off x="3788021" y="457201"/>
            <a:ext cx="5949868" cy="5726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Tree>
    <p:extLst>
      <p:ext uri="{BB962C8B-B14F-4D97-AF65-F5344CB8AC3E}">
        <p14:creationId xmlns:p14="http://schemas.microsoft.com/office/powerpoint/2010/main" val="21030756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31157990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a:t>Add a footer</a:t>
            </a:r>
          </a:p>
        </p:txBody>
      </p:sp>
      <p:sp>
        <p:nvSpPr>
          <p:cNvPr id="3" name="Slide Number Placeholder 2">
            <a:extLst>
              <a:ext uri="{FF2B5EF4-FFF2-40B4-BE49-F238E27FC236}">
                <a16:creationId xmlns:a16="http://schemas.microsoft.com/office/drawing/2014/main" id="{2310D190-B83D-438A-91BC-470C41B22A29}"/>
              </a:ext>
            </a:extLst>
          </p:cNvPr>
          <p:cNvSpPr>
            <a:spLocks noGrp="1"/>
          </p:cNvSpPr>
          <p:nvPr>
            <p:ph type="sldNum" sz="quarter" idx="13"/>
          </p:nvPr>
        </p:nvSpPr>
        <p:spPr/>
        <p:txBody>
          <a:bodyPr/>
          <a:lstStyle/>
          <a:p>
            <a:fld id="{19B51A1E-902D-48AF-9020-955120F399B6}" type="slidenum">
              <a:rPr lang="en-US" noProof="0" smtClean="0"/>
              <a:pPr/>
              <a:t>‹#›</a:t>
            </a:fld>
            <a:endParaRPr lang="en-US" noProof="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C8D0EF-1DB6-4ADC-8F31-5AE53BF5EAF4}"/>
              </a:ext>
            </a:extLst>
          </p:cNvPr>
          <p:cNvSpPr/>
          <p:nvPr userDrawn="1"/>
        </p:nvSpPr>
        <p:spPr>
          <a:xfrm>
            <a:off x="69274" y="66963"/>
            <a:ext cx="9911201" cy="67273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Rectangle 6">
            <a:extLst>
              <a:ext uri="{FF2B5EF4-FFF2-40B4-BE49-F238E27FC236}">
                <a16:creationId xmlns:a16="http://schemas.microsoft.com/office/drawing/2014/main" id="{62F208ED-79A0-4B2C-A5EE-9D27466BCA3F}"/>
              </a:ext>
            </a:extLst>
          </p:cNvPr>
          <p:cNvSpPr/>
          <p:nvPr userDrawn="1"/>
        </p:nvSpPr>
        <p:spPr>
          <a:xfrm>
            <a:off x="11407775" y="6356350"/>
            <a:ext cx="784225" cy="3651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noProof="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47502" y="6401750"/>
            <a:ext cx="278418" cy="274324"/>
          </a:xfrm>
          <a:prstGeom prst="rect">
            <a:avLst/>
          </a:prstGeom>
        </p:spPr>
        <p:txBody>
          <a:bodyPr vert="horz" lIns="0" tIns="0" rIns="0" bIns="0" rtlCol="0" anchor="ctr"/>
          <a:lstStyle>
            <a:lvl1pPr algn="ctr">
              <a:defRPr sz="1200" i="1">
                <a:solidFill>
                  <a:schemeClr val="bg1"/>
                </a:solidFill>
              </a:defRPr>
            </a:lvl1pPr>
          </a:lstStyle>
          <a:p>
            <a:fld id="{19B51A1E-902D-48AF-9020-955120F399B6}" type="slidenum">
              <a:rPr lang="en-US" noProof="0" smtClean="0"/>
              <a:pPr/>
              <a:t>‹#›</a:t>
            </a:fld>
            <a:endParaRPr lang="en-US" noProof="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9630116" y="6346108"/>
            <a:ext cx="1662546" cy="404658"/>
          </a:xfrm>
          <a:prstGeom prst="rect">
            <a:avLst/>
          </a:prstGeom>
          <a:noFill/>
        </p:spPr>
        <p:txBody>
          <a:bodyPr wrap="square" lIns="0" tIns="36000" rIns="0" bIns="0" rtlCol="0">
            <a:spAutoFit/>
          </a:bodyPr>
          <a:lstStyle/>
          <a:p>
            <a:pPr algn="r">
              <a:lnSpc>
                <a:spcPts val="1400"/>
              </a:lnSpc>
            </a:pPr>
            <a:r>
              <a:rPr lang="en-US" sz="1600" b="1" spc="-100" baseline="0" noProof="0">
                <a:solidFill>
                  <a:schemeClr val="tx1">
                    <a:lumMod val="50000"/>
                    <a:lumOff val="50000"/>
                  </a:schemeClr>
                </a:solidFill>
                <a:latin typeface="Corbel" panose="020B0503020204020204" pitchFamily="34" charset="0"/>
              </a:rPr>
              <a:t>L'Oréal of Paris</a:t>
            </a:r>
            <a:br>
              <a:rPr lang="en-US" sz="1600" b="1" spc="-100" baseline="0" noProof="0">
                <a:solidFill>
                  <a:schemeClr val="tx1">
                    <a:lumMod val="50000"/>
                    <a:lumOff val="50000"/>
                  </a:schemeClr>
                </a:solidFill>
                <a:latin typeface="Corbel" panose="020B0503020204020204" pitchFamily="34" charset="0"/>
              </a:rPr>
            </a:br>
            <a:r>
              <a:rPr lang="en-US" sz="1600" b="1" spc="-100" baseline="0" noProof="0">
                <a:solidFill>
                  <a:schemeClr val="accent1"/>
                </a:solidFill>
                <a:latin typeface="Corbel" panose="020B0503020204020204" pitchFamily="34" charset="0"/>
              </a:rPr>
              <a:t> </a:t>
            </a:r>
            <a:r>
              <a:rPr lang="en-US" sz="1600" b="1" spc="-100" baseline="0" noProof="0" err="1">
                <a:solidFill>
                  <a:schemeClr val="tx1"/>
                </a:solidFill>
                <a:latin typeface="Corbel" panose="020B0503020204020204" pitchFamily="34" charset="0"/>
              </a:rPr>
              <a:t>Plénitude</a:t>
            </a:r>
            <a:endParaRPr lang="en-US" sz="1600" b="1" spc="-100" baseline="0" noProof="0">
              <a:solidFill>
                <a:schemeClr val="tx1"/>
              </a:solidFill>
              <a:latin typeface="Corbel" panose="020B0503020204020204" pitchFamily="34" charset="0"/>
            </a:endParaRPr>
          </a:p>
        </p:txBody>
      </p:sp>
      <p:sp>
        <p:nvSpPr>
          <p:cNvPr id="8" name="Rectangle 7">
            <a:extLst>
              <a:ext uri="{FF2B5EF4-FFF2-40B4-BE49-F238E27FC236}">
                <a16:creationId xmlns:a16="http://schemas.microsoft.com/office/drawing/2014/main" id="{6B322F68-670D-45A0-A54F-7E70BCEAED3F}"/>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Rectangle 9">
            <a:extLst>
              <a:ext uri="{FF2B5EF4-FFF2-40B4-BE49-F238E27FC236}">
                <a16:creationId xmlns:a16="http://schemas.microsoft.com/office/drawing/2014/main" id="{E69B5F15-353A-4344-8D61-F4E25AA9FB6C}"/>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2FA0C0AA-FCE8-4A7F-928A-54C96BBA9053}"/>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72" r:id="rId13"/>
    <p:sldLayoutId id="2147483666" r:id="rId14"/>
    <p:sldLayoutId id="2147483667" r:id="rId15"/>
    <p:sldLayoutId id="2147483668" r:id="rId16"/>
    <p:sldLayoutId id="2147483673" r:id="rId17"/>
    <p:sldLayoutId id="2147483675" r:id="rId18"/>
    <p:sldLayoutId id="2147483669"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video" Target="https://www.youtube.com/embed/qw-kwNGRxmA?feature=oembed" TargetMode="Externa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2F2BFDF-E9F2-4569-A9F2-E1FFCB7FB82D}"/>
              </a:ext>
            </a:extLst>
          </p:cNvPr>
          <p:cNvSpPr txBox="1"/>
          <p:nvPr/>
        </p:nvSpPr>
        <p:spPr>
          <a:xfrm>
            <a:off x="7972733" y="2924950"/>
            <a:ext cx="1662546" cy="1421346"/>
          </a:xfrm>
          <a:prstGeom prst="rect">
            <a:avLst/>
          </a:prstGeom>
          <a:noFill/>
        </p:spPr>
        <p:txBody>
          <a:bodyPr wrap="square" lIns="0" tIns="36000" rIns="0" bIns="0" rtlCol="0" anchor="t">
            <a:spAutoFit/>
          </a:bodyPr>
          <a:lstStyle/>
          <a:p>
            <a:pPr algn="r"/>
            <a:r>
              <a:rPr lang="en-US"/>
              <a:t>Jordan </a:t>
            </a:r>
            <a:r>
              <a:rPr lang="en-US" err="1"/>
              <a:t>Borkland</a:t>
            </a:r>
            <a:br>
              <a:rPr lang="en-US"/>
            </a:br>
            <a:r>
              <a:rPr lang="en-US"/>
              <a:t>Vinay Gandhi</a:t>
            </a:r>
            <a:br>
              <a:rPr lang="en-US"/>
            </a:br>
            <a:r>
              <a:rPr lang="en-US"/>
              <a:t>Jocelyn Green</a:t>
            </a:r>
            <a:br>
              <a:rPr lang="en-US"/>
            </a:br>
            <a:r>
              <a:rPr lang="en-US"/>
              <a:t>Matthew </a:t>
            </a:r>
            <a:r>
              <a:rPr lang="en-US" err="1"/>
              <a:t>Kopyt</a:t>
            </a:r>
            <a:br>
              <a:rPr lang="en-US"/>
            </a:br>
            <a:r>
              <a:rPr lang="en-US"/>
              <a:t>Katie Marquardt</a:t>
            </a:r>
            <a:endParaRPr lang="en-US" sz="1600" b="1" spc="-100">
              <a:solidFill>
                <a:schemeClr val="tx1"/>
              </a:solidFill>
              <a:latin typeface="Corbel" panose="020B0503020204020204" pitchFamily="34" charset="0"/>
            </a:endParaRPr>
          </a:p>
        </p:txBody>
      </p:sp>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301367" y="4303164"/>
            <a:ext cx="6798250" cy="1674470"/>
          </a:xfrm>
        </p:spPr>
        <p:txBody>
          <a:bodyPr/>
          <a:lstStyle/>
          <a:p>
            <a:r>
              <a:rPr lang="en-US"/>
              <a:t>L’Oréal of Paris</a:t>
            </a:r>
            <a:endParaRPr lang="en-US">
              <a:cs typeface="Arial"/>
            </a:endParaRP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a:lstStyle/>
          <a:p>
            <a:r>
              <a:rPr lang="en-US"/>
              <a:t>Bringing Class to Mass</a:t>
            </a:r>
            <a:br>
              <a:rPr lang="en-US"/>
            </a:br>
            <a:r>
              <a:rPr lang="en-US"/>
              <a:t>with </a:t>
            </a:r>
            <a:r>
              <a:rPr lang="en-US" err="1"/>
              <a:t>Plénitude</a:t>
            </a:r>
            <a:endParaRPr lang="en-US"/>
          </a:p>
        </p:txBody>
      </p:sp>
      <p:pic>
        <p:nvPicPr>
          <p:cNvPr id="6" name="Picture 6">
            <a:extLst>
              <a:ext uri="{FF2B5EF4-FFF2-40B4-BE49-F238E27FC236}">
                <a16:creationId xmlns:a16="http://schemas.microsoft.com/office/drawing/2014/main" id="{74AE5D8B-A726-4BC2-93CC-710C3B59714A}"/>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4620"/>
          <a:stretch/>
        </p:blipFill>
        <p:spPr>
          <a:xfrm>
            <a:off x="9963150" y="0"/>
            <a:ext cx="2228850" cy="6858000"/>
          </a:xfrm>
        </p:spPr>
      </p:pic>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286990" y="4317542"/>
            <a:ext cx="6798250" cy="1674470"/>
          </a:xfrm>
        </p:spPr>
        <p:txBody>
          <a:bodyPr/>
          <a:lstStyle/>
          <a:p>
            <a:r>
              <a:rPr lang="en-US"/>
              <a:t>Introduction</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a:lstStyle/>
          <a:p>
            <a:r>
              <a:rPr lang="en-US">
                <a:latin typeface="Times New Roman"/>
                <a:cs typeface="Times New Roman"/>
              </a:rPr>
              <a:t>A brief background of L'Oréal, </a:t>
            </a:r>
            <a:r>
              <a:rPr lang="en-US" err="1">
                <a:latin typeface="Times New Roman"/>
                <a:cs typeface="Times New Roman"/>
              </a:rPr>
              <a:t>Plénitude</a:t>
            </a:r>
            <a:r>
              <a:rPr lang="en-US">
                <a:latin typeface="Times New Roman"/>
                <a:cs typeface="Times New Roman"/>
              </a:rPr>
              <a:t>, and their entry to the US.</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1"/>
          </p:nvPr>
        </p:nvSpPr>
        <p:spPr/>
        <p:txBody>
          <a:bodyPr/>
          <a:lstStyle/>
          <a:p>
            <a:fld id="{19B51A1E-902D-48AF-9020-955120F399B6}" type="slidenum">
              <a:rPr lang="en-US" smtClean="0"/>
              <a:pPr/>
              <a:t>2</a:t>
            </a:fld>
            <a:endParaRPr lang="en-US"/>
          </a:p>
        </p:txBody>
      </p:sp>
    </p:spTree>
    <p:extLst>
      <p:ext uri="{BB962C8B-B14F-4D97-AF65-F5344CB8AC3E}">
        <p14:creationId xmlns:p14="http://schemas.microsoft.com/office/powerpoint/2010/main" val="409167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4445086" y="2044500"/>
            <a:ext cx="5184913" cy="432000"/>
          </a:xfrm>
        </p:spPr>
        <p:txBody>
          <a:bodyPr/>
          <a:lstStyle/>
          <a:p>
            <a:r>
              <a:rPr lang="en-US"/>
              <a:t>About L'Oréal of Paris</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5130800" y="2747725"/>
            <a:ext cx="4498999" cy="727550"/>
          </a:xfrm>
        </p:spPr>
        <p:txBody>
          <a:bodyPr vert="horz" lIns="0" tIns="0" rIns="0" bIns="0" rtlCol="0" anchor="t">
            <a:noAutofit/>
          </a:bodyPr>
          <a:lstStyle/>
          <a:p>
            <a:r>
              <a:rPr lang="en-US">
                <a:ea typeface="+mn-lt"/>
                <a:cs typeface="+mn-lt"/>
              </a:rPr>
              <a:t>Offering all women and men worldwide the best of </a:t>
            </a:r>
            <a:r>
              <a:rPr lang="en-US" b="1">
                <a:ea typeface="+mn-lt"/>
                <a:cs typeface="+mn-lt"/>
              </a:rPr>
              <a:t>cosmetics innovation </a:t>
            </a:r>
            <a:r>
              <a:rPr lang="en-US">
                <a:ea typeface="+mn-lt"/>
                <a:cs typeface="+mn-lt"/>
              </a:rPr>
              <a:t>in terms of quality, efficacy, and safety.</a:t>
            </a:r>
            <a:endParaRPr lang="en-US"/>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646283" y="3746500"/>
            <a:ext cx="4983517" cy="2445500"/>
          </a:xfrm>
        </p:spPr>
        <p:txBody>
          <a:bodyPr vert="horz" lIns="180000" tIns="252000" rIns="252000" bIns="0" rtlCol="0" anchor="t">
            <a:noAutofit/>
          </a:bodyPr>
          <a:lstStyle/>
          <a:p>
            <a:pPr>
              <a:buNone/>
            </a:pPr>
            <a:r>
              <a:rPr lang="en-US" sz="2800"/>
              <a:t>Born from a desire for technological innovation </a:t>
            </a:r>
            <a:endParaRPr lang="en-US"/>
          </a:p>
          <a:p>
            <a:r>
              <a:rPr lang="en-US"/>
              <a:t>Focus on innovative cosmetics technology </a:t>
            </a:r>
            <a:endParaRPr lang="en-US">
              <a:cs typeface="Times New Roman"/>
            </a:endParaRPr>
          </a:p>
          <a:p>
            <a:r>
              <a:rPr lang="en-US"/>
              <a:t>"Trickle Down and Fire Up" strategy</a:t>
            </a:r>
            <a:endParaRPr lang="en-US">
              <a:cs typeface="Times New Roman"/>
            </a:endParaRPr>
          </a:p>
          <a:p>
            <a:r>
              <a:rPr lang="en-US"/>
              <a:t>Reliant on strong advertising and merchandising </a:t>
            </a:r>
            <a:endParaRPr lang="en-US">
              <a:cs typeface="Times New Roman"/>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3</a:t>
            </a:fld>
            <a:endParaRPr lang="en-US"/>
          </a:p>
        </p:txBody>
      </p:sp>
      <p:pic>
        <p:nvPicPr>
          <p:cNvPr id="8" name="Picture 8" descr="A close up of a person&#10;&#10;Description generated with very high confidence">
            <a:extLst>
              <a:ext uri="{FF2B5EF4-FFF2-40B4-BE49-F238E27FC236}">
                <a16:creationId xmlns:a16="http://schemas.microsoft.com/office/drawing/2014/main" id="{506EB1A2-66C7-4EEA-83C5-2ABA51360432}"/>
              </a:ext>
            </a:extLst>
          </p:cNvPr>
          <p:cNvPicPr>
            <a:picLocks noGrp="1" noChangeAspect="1"/>
          </p:cNvPicPr>
          <p:nvPr>
            <p:ph type="pic" sz="quarter" idx="33"/>
          </p:nvPr>
        </p:nvPicPr>
        <p:blipFill rotWithShape="1">
          <a:blip r:embed="rId3"/>
          <a:srcRect t="2301" b="2301"/>
          <a:stretch/>
        </p:blipFill>
        <p:spPr/>
      </p:pic>
    </p:spTree>
    <p:extLst>
      <p:ext uri="{BB962C8B-B14F-4D97-AF65-F5344CB8AC3E}">
        <p14:creationId xmlns:p14="http://schemas.microsoft.com/office/powerpoint/2010/main" val="132974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518B-CEE0-412C-9DA9-E18665566C58}"/>
              </a:ext>
            </a:extLst>
          </p:cNvPr>
          <p:cNvSpPr>
            <a:spLocks noGrp="1"/>
          </p:cNvSpPr>
          <p:nvPr>
            <p:ph type="title"/>
          </p:nvPr>
        </p:nvSpPr>
        <p:spPr/>
        <p:txBody>
          <a:bodyPr/>
          <a:lstStyle/>
          <a:p>
            <a:r>
              <a:rPr lang="en-US">
                <a:cs typeface="Arial"/>
              </a:rPr>
              <a:t>L'Oréal </a:t>
            </a:r>
            <a:r>
              <a:rPr lang="en-US" err="1">
                <a:cs typeface="Arial"/>
              </a:rPr>
              <a:t>Pl</a:t>
            </a:r>
            <a:r>
              <a:rPr lang="en-US" err="1">
                <a:ea typeface="+mj-lt"/>
                <a:cs typeface="+mj-lt"/>
              </a:rPr>
              <a:t>é</a:t>
            </a:r>
            <a:r>
              <a:rPr lang="en-US" err="1">
                <a:cs typeface="Arial"/>
              </a:rPr>
              <a:t>nitude</a:t>
            </a:r>
            <a:r>
              <a:rPr lang="en-US">
                <a:cs typeface="Arial"/>
              </a:rPr>
              <a:t> in France</a:t>
            </a:r>
          </a:p>
        </p:txBody>
      </p:sp>
      <p:sp>
        <p:nvSpPr>
          <p:cNvPr id="3" name="Slide Number Placeholder 2">
            <a:extLst>
              <a:ext uri="{FF2B5EF4-FFF2-40B4-BE49-F238E27FC236}">
                <a16:creationId xmlns:a16="http://schemas.microsoft.com/office/drawing/2014/main" id="{09F448A2-634F-44A5-BC2D-D1DD96AB8BD4}"/>
              </a:ext>
            </a:extLst>
          </p:cNvPr>
          <p:cNvSpPr>
            <a:spLocks noGrp="1"/>
          </p:cNvSpPr>
          <p:nvPr>
            <p:ph type="sldNum" sz="quarter" idx="33"/>
          </p:nvPr>
        </p:nvSpPr>
        <p:spPr/>
        <p:txBody>
          <a:bodyPr/>
          <a:lstStyle/>
          <a:p>
            <a:fld id="{19B51A1E-902D-48AF-9020-955120F399B6}" type="slidenum">
              <a:rPr lang="en-US" noProof="0" smtClean="0"/>
              <a:pPr/>
              <a:t>4</a:t>
            </a:fld>
            <a:endParaRPr lang="en-US" noProof="0"/>
          </a:p>
        </p:txBody>
      </p:sp>
      <p:sp>
        <p:nvSpPr>
          <p:cNvPr id="7" name="Content Placeholder 3">
            <a:extLst>
              <a:ext uri="{FF2B5EF4-FFF2-40B4-BE49-F238E27FC236}">
                <a16:creationId xmlns:a16="http://schemas.microsoft.com/office/drawing/2014/main" id="{E7FBF18C-3ABB-4505-8A6B-40BE462FDC2F}"/>
              </a:ext>
            </a:extLst>
          </p:cNvPr>
          <p:cNvSpPr txBox="1">
            <a:spLocks/>
          </p:cNvSpPr>
          <p:nvPr/>
        </p:nvSpPr>
        <p:spPr>
          <a:xfrm>
            <a:off x="433716" y="1101066"/>
            <a:ext cx="4034613" cy="4760254"/>
          </a:xfrm>
          <a:prstGeom prst="rect">
            <a:avLst/>
          </a:prstGeom>
          <a:solidFill>
            <a:schemeClr val="bg1"/>
          </a:solidFill>
        </p:spPr>
        <p:txBody>
          <a:bodyPr vert="horz" lIns="180000" tIns="252000" rIns="252000" bIns="0" rtlCol="0" anchor="t">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3200"/>
              <a:t>Pl</a:t>
            </a:r>
            <a:r>
              <a:rPr lang="en-US" sz="3200">
                <a:latin typeface="Times New Roman"/>
                <a:cs typeface="Arial"/>
              </a:rPr>
              <a:t>é</a:t>
            </a:r>
            <a:r>
              <a:rPr lang="en-US" sz="3200"/>
              <a:t>nitude Line Introduced in 1982 </a:t>
            </a:r>
            <a:endParaRPr lang="en-US" sz="3200">
              <a:cs typeface="Times New Roman"/>
            </a:endParaRPr>
          </a:p>
          <a:p>
            <a:r>
              <a:rPr lang="en-US" sz="2000"/>
              <a:t>One of L'Oréal's first ventures beyond haircare and cosmetics</a:t>
            </a:r>
            <a:endParaRPr lang="en-US" sz="2000">
              <a:cs typeface="Times New Roman"/>
            </a:endParaRPr>
          </a:p>
          <a:p>
            <a:r>
              <a:rPr lang="en-US" sz="2000">
                <a:cs typeface="Times New Roman"/>
              </a:rPr>
              <a:t>Positioned as high-end, yet accessible</a:t>
            </a:r>
          </a:p>
          <a:p>
            <a:r>
              <a:rPr lang="en-US" sz="2000">
                <a:cs typeface="Times New Roman"/>
              </a:rPr>
              <a:t>Marketing message focused on the modern woman and technologically advanced products</a:t>
            </a:r>
          </a:p>
          <a:p>
            <a:r>
              <a:rPr lang="en-US" sz="2000">
                <a:cs typeface="Times New Roman"/>
              </a:rPr>
              <a:t>An early success in France and additional products were developed</a:t>
            </a:r>
          </a:p>
        </p:txBody>
      </p:sp>
      <p:pic>
        <p:nvPicPr>
          <p:cNvPr id="6" name="Picture 7" descr="A picture containing person, cellphone, phone, woman&#10;&#10;Description generated with very high confidence">
            <a:extLst>
              <a:ext uri="{FF2B5EF4-FFF2-40B4-BE49-F238E27FC236}">
                <a16:creationId xmlns:a16="http://schemas.microsoft.com/office/drawing/2014/main" id="{56AD8967-9319-439E-BC40-21DD9AA7996A}"/>
              </a:ext>
            </a:extLst>
          </p:cNvPr>
          <p:cNvPicPr>
            <a:picLocks noGrp="1" noChangeAspect="1"/>
          </p:cNvPicPr>
          <p:nvPr>
            <p:ph idx="1"/>
          </p:nvPr>
        </p:nvPicPr>
        <p:blipFill rotWithShape="1">
          <a:blip r:embed="rId3"/>
          <a:srcRect l="5115" t="107" r="13712"/>
          <a:stretch/>
        </p:blipFill>
        <p:spPr>
          <a:xfrm>
            <a:off x="4474604" y="1100467"/>
            <a:ext cx="6888175" cy="4767284"/>
          </a:xfrm>
        </p:spPr>
      </p:pic>
    </p:spTree>
    <p:extLst>
      <p:ext uri="{BB962C8B-B14F-4D97-AF65-F5344CB8AC3E}">
        <p14:creationId xmlns:p14="http://schemas.microsoft.com/office/powerpoint/2010/main" val="3652945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518B-CEE0-412C-9DA9-E18665566C58}"/>
              </a:ext>
            </a:extLst>
          </p:cNvPr>
          <p:cNvSpPr>
            <a:spLocks noGrp="1"/>
          </p:cNvSpPr>
          <p:nvPr>
            <p:ph type="title"/>
          </p:nvPr>
        </p:nvSpPr>
        <p:spPr/>
        <p:txBody>
          <a:bodyPr/>
          <a:lstStyle/>
          <a:p>
            <a:r>
              <a:rPr lang="en-US">
                <a:cs typeface="Arial"/>
              </a:rPr>
              <a:t>L'Oréal </a:t>
            </a:r>
            <a:r>
              <a:rPr lang="en-US" err="1">
                <a:cs typeface="Arial"/>
              </a:rPr>
              <a:t>Pl</a:t>
            </a:r>
            <a:r>
              <a:rPr lang="en-US" err="1">
                <a:ea typeface="+mj-lt"/>
                <a:cs typeface="+mj-lt"/>
              </a:rPr>
              <a:t>é</a:t>
            </a:r>
            <a:r>
              <a:rPr lang="en-US" err="1">
                <a:cs typeface="Arial"/>
              </a:rPr>
              <a:t>nitude</a:t>
            </a:r>
            <a:r>
              <a:rPr lang="en-US">
                <a:cs typeface="Arial"/>
              </a:rPr>
              <a:t> Entry in the U.S.</a:t>
            </a:r>
          </a:p>
        </p:txBody>
      </p:sp>
      <p:sp>
        <p:nvSpPr>
          <p:cNvPr id="3" name="Slide Number Placeholder 2">
            <a:extLst>
              <a:ext uri="{FF2B5EF4-FFF2-40B4-BE49-F238E27FC236}">
                <a16:creationId xmlns:a16="http://schemas.microsoft.com/office/drawing/2014/main" id="{09F448A2-634F-44A5-BC2D-D1DD96AB8BD4}"/>
              </a:ext>
            </a:extLst>
          </p:cNvPr>
          <p:cNvSpPr>
            <a:spLocks noGrp="1"/>
          </p:cNvSpPr>
          <p:nvPr>
            <p:ph type="sldNum" sz="quarter" idx="33"/>
          </p:nvPr>
        </p:nvSpPr>
        <p:spPr/>
        <p:txBody>
          <a:bodyPr/>
          <a:lstStyle/>
          <a:p>
            <a:fld id="{19B51A1E-902D-48AF-9020-955120F399B6}" type="slidenum">
              <a:rPr lang="en-US" noProof="0" smtClean="0"/>
              <a:pPr/>
              <a:t>5</a:t>
            </a:fld>
            <a:endParaRPr lang="en-US" noProof="0"/>
          </a:p>
        </p:txBody>
      </p:sp>
      <p:sp>
        <p:nvSpPr>
          <p:cNvPr id="7" name="Content Placeholder 3">
            <a:extLst>
              <a:ext uri="{FF2B5EF4-FFF2-40B4-BE49-F238E27FC236}">
                <a16:creationId xmlns:a16="http://schemas.microsoft.com/office/drawing/2014/main" id="{E7FBF18C-3ABB-4505-8A6B-40BE462FDC2F}"/>
              </a:ext>
            </a:extLst>
          </p:cNvPr>
          <p:cNvSpPr txBox="1">
            <a:spLocks/>
          </p:cNvSpPr>
          <p:nvPr/>
        </p:nvSpPr>
        <p:spPr>
          <a:xfrm>
            <a:off x="433716" y="1101066"/>
            <a:ext cx="4034613" cy="4760254"/>
          </a:xfrm>
          <a:prstGeom prst="rect">
            <a:avLst/>
          </a:prstGeom>
          <a:solidFill>
            <a:schemeClr val="bg1"/>
          </a:solidFill>
        </p:spPr>
        <p:txBody>
          <a:bodyPr vert="horz" lIns="180000" tIns="252000" rIns="252000" bIns="0" rtlCol="0" anchor="t">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3200"/>
              <a:t>Introduced to the US in 1988 and 1989 </a:t>
            </a:r>
          </a:p>
          <a:p>
            <a:r>
              <a:rPr lang="en-US" sz="2000"/>
              <a:t>Successful test market in Atlanta and Dallas in 1988  </a:t>
            </a:r>
            <a:endParaRPr lang="en-US" sz="2000">
              <a:cs typeface="Times New Roman"/>
            </a:endParaRPr>
          </a:p>
          <a:p>
            <a:r>
              <a:rPr lang="en-US" sz="2000"/>
              <a:t>Retailers required to sell the entire line with moisturizers and cleansers </a:t>
            </a:r>
            <a:endParaRPr lang="en-US" sz="2000">
              <a:cs typeface="Times New Roman"/>
            </a:endParaRPr>
          </a:p>
          <a:p>
            <a:r>
              <a:rPr lang="en-US" sz="2000"/>
              <a:t>Challenge: L'Oréal's first products in the HBA aisles</a:t>
            </a:r>
            <a:endParaRPr lang="en-US" sz="2000">
              <a:cs typeface="Times New Roman"/>
            </a:endParaRPr>
          </a:p>
          <a:p>
            <a:r>
              <a:rPr lang="en-US" sz="2000">
                <a:ea typeface="+mn-lt"/>
                <a:cs typeface="+mn-lt"/>
              </a:rPr>
              <a:t>Opportunity: L'Oréal's is well-known for their innovative cosmetics and hair care</a:t>
            </a:r>
            <a:endParaRPr lang="en-US" sz="2000">
              <a:cs typeface="Times New Roman"/>
            </a:endParaRPr>
          </a:p>
        </p:txBody>
      </p:sp>
      <p:pic>
        <p:nvPicPr>
          <p:cNvPr id="4" name="Picture 14" descr="A picture containing kitchen, white&#10;&#10;Description generated with very high confidence">
            <a:extLst>
              <a:ext uri="{FF2B5EF4-FFF2-40B4-BE49-F238E27FC236}">
                <a16:creationId xmlns:a16="http://schemas.microsoft.com/office/drawing/2014/main" id="{A2D3E636-6DBF-4EFA-AE9F-7A456C73B959}"/>
              </a:ext>
            </a:extLst>
          </p:cNvPr>
          <p:cNvPicPr>
            <a:picLocks noChangeAspect="1"/>
          </p:cNvPicPr>
          <p:nvPr/>
        </p:nvPicPr>
        <p:blipFill rotWithShape="1">
          <a:blip r:embed="rId3"/>
          <a:srcRect l="6553" t="-257" r="5691"/>
          <a:stretch/>
        </p:blipFill>
        <p:spPr>
          <a:xfrm>
            <a:off x="4467669" y="1097534"/>
            <a:ext cx="7255188" cy="4759083"/>
          </a:xfrm>
          <a:prstGeom prst="rect">
            <a:avLst/>
          </a:prstGeom>
        </p:spPr>
      </p:pic>
    </p:spTree>
    <p:extLst>
      <p:ext uri="{BB962C8B-B14F-4D97-AF65-F5344CB8AC3E}">
        <p14:creationId xmlns:p14="http://schemas.microsoft.com/office/powerpoint/2010/main" val="915681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518B-CEE0-412C-9DA9-E18665566C58}"/>
              </a:ext>
            </a:extLst>
          </p:cNvPr>
          <p:cNvSpPr>
            <a:spLocks noGrp="1"/>
          </p:cNvSpPr>
          <p:nvPr>
            <p:ph type="title"/>
          </p:nvPr>
        </p:nvSpPr>
        <p:spPr/>
        <p:txBody>
          <a:bodyPr/>
          <a:lstStyle/>
          <a:p>
            <a:r>
              <a:rPr lang="en-US">
                <a:cs typeface="Arial"/>
              </a:rPr>
              <a:t>L'Oréal </a:t>
            </a:r>
            <a:r>
              <a:rPr lang="en-US" err="1">
                <a:cs typeface="Arial"/>
              </a:rPr>
              <a:t>Pl</a:t>
            </a:r>
            <a:r>
              <a:rPr lang="en-US" err="1">
                <a:ea typeface="+mj-lt"/>
                <a:cs typeface="+mj-lt"/>
              </a:rPr>
              <a:t>é</a:t>
            </a:r>
            <a:r>
              <a:rPr lang="en-US" err="1">
                <a:cs typeface="Arial"/>
              </a:rPr>
              <a:t>nitude</a:t>
            </a:r>
            <a:r>
              <a:rPr lang="en-US">
                <a:cs typeface="Arial"/>
              </a:rPr>
              <a:t> Wrinkle Defense Cream</a:t>
            </a:r>
          </a:p>
        </p:txBody>
      </p:sp>
      <p:sp>
        <p:nvSpPr>
          <p:cNvPr id="3" name="Slide Number Placeholder 2">
            <a:extLst>
              <a:ext uri="{FF2B5EF4-FFF2-40B4-BE49-F238E27FC236}">
                <a16:creationId xmlns:a16="http://schemas.microsoft.com/office/drawing/2014/main" id="{09F448A2-634F-44A5-BC2D-D1DD96AB8BD4}"/>
              </a:ext>
            </a:extLst>
          </p:cNvPr>
          <p:cNvSpPr>
            <a:spLocks noGrp="1"/>
          </p:cNvSpPr>
          <p:nvPr>
            <p:ph type="sldNum" sz="quarter" idx="33"/>
          </p:nvPr>
        </p:nvSpPr>
        <p:spPr/>
        <p:txBody>
          <a:bodyPr/>
          <a:lstStyle/>
          <a:p>
            <a:fld id="{19B51A1E-902D-48AF-9020-955120F399B6}" type="slidenum">
              <a:rPr lang="en-US" noProof="0" smtClean="0"/>
              <a:pPr/>
              <a:t>6</a:t>
            </a:fld>
            <a:endParaRPr lang="en-US" noProof="0"/>
          </a:p>
        </p:txBody>
      </p:sp>
      <p:pic>
        <p:nvPicPr>
          <p:cNvPr id="5" name="Picture 5">
            <a:hlinkClick r:id="" action="ppaction://media"/>
            <a:extLst>
              <a:ext uri="{FF2B5EF4-FFF2-40B4-BE49-F238E27FC236}">
                <a16:creationId xmlns:a16="http://schemas.microsoft.com/office/drawing/2014/main" id="{5B93C1EE-EBA4-4396-B354-4D51A407E2D0}"/>
              </a:ext>
            </a:extLst>
          </p:cNvPr>
          <p:cNvPicPr>
            <a:picLocks noGrp="1" noRot="1" noChangeAspect="1"/>
          </p:cNvPicPr>
          <p:nvPr>
            <p:ph idx="1"/>
            <a:videoFile r:link="rId1"/>
          </p:nvPr>
        </p:nvPicPr>
        <p:blipFill>
          <a:blip r:embed="rId4"/>
          <a:stretch>
            <a:fillRect/>
          </a:stretch>
        </p:blipFill>
        <p:spPr>
          <a:xfrm>
            <a:off x="2428486" y="1091931"/>
            <a:ext cx="7102414" cy="5341188"/>
          </a:xfrm>
        </p:spPr>
      </p:pic>
      <p:sp>
        <p:nvSpPr>
          <p:cNvPr id="4" name="TextBox 3">
            <a:extLst>
              <a:ext uri="{FF2B5EF4-FFF2-40B4-BE49-F238E27FC236}">
                <a16:creationId xmlns:a16="http://schemas.microsoft.com/office/drawing/2014/main" id="{872BB402-696C-4B61-83B5-691071D5587F}"/>
              </a:ext>
            </a:extLst>
          </p:cNvPr>
          <p:cNvSpPr txBox="1"/>
          <p:nvPr/>
        </p:nvSpPr>
        <p:spPr>
          <a:xfrm>
            <a:off x="425570" y="1086928"/>
            <a:ext cx="183742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1989 Television Ad Introducing </a:t>
            </a:r>
            <a:r>
              <a:rPr lang="en-US" i="1" err="1">
                <a:ea typeface="+mn-lt"/>
                <a:cs typeface="+mn-lt"/>
              </a:rPr>
              <a:t>Plénitude</a:t>
            </a:r>
            <a:r>
              <a:rPr lang="en-US" i="1">
                <a:ea typeface="+mn-lt"/>
                <a:cs typeface="+mn-lt"/>
              </a:rPr>
              <a:t> to US</a:t>
            </a:r>
            <a:endParaRPr lang="en-US" i="1" err="1"/>
          </a:p>
        </p:txBody>
      </p:sp>
    </p:spTree>
    <p:extLst>
      <p:ext uri="{BB962C8B-B14F-4D97-AF65-F5344CB8AC3E}">
        <p14:creationId xmlns:p14="http://schemas.microsoft.com/office/powerpoint/2010/main" val="2670970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2483" y="491746"/>
            <a:ext cx="6263214" cy="388868"/>
          </a:xfrm>
        </p:spPr>
        <p:txBody>
          <a:bodyPr/>
          <a:lstStyle/>
          <a:p>
            <a:r>
              <a:rPr lang="en-US">
                <a:ea typeface="+mj-lt"/>
                <a:cs typeface="+mj-lt"/>
              </a:rPr>
              <a:t>PLÉNITUDE GOALS IN THE US</a:t>
            </a:r>
            <a:endParaRPr lang="en-US"/>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6967592" cy="4659612"/>
          </a:xfrm>
        </p:spPr>
        <p:txBody>
          <a:bodyPr vert="horz" lIns="180000" tIns="252000" rIns="252000" bIns="0" rtlCol="0" anchor="t">
            <a:noAutofit/>
          </a:bodyPr>
          <a:lstStyle/>
          <a:p>
            <a:pPr marL="0" indent="0">
              <a:buNone/>
            </a:pPr>
            <a:r>
              <a:rPr lang="en-US" sz="3200">
                <a:ea typeface="+mn-lt"/>
                <a:cs typeface="+mn-lt"/>
              </a:rPr>
              <a:t>Four Keys: </a:t>
            </a:r>
          </a:p>
          <a:p>
            <a:pPr>
              <a:buFont typeface="Arial"/>
              <a:buChar char="•"/>
            </a:pPr>
            <a:r>
              <a:rPr lang="en-US" sz="2800">
                <a:ea typeface="+mn-lt"/>
                <a:cs typeface="+mn-lt"/>
              </a:rPr>
              <a:t>Improve the top-line</a:t>
            </a:r>
          </a:p>
          <a:p>
            <a:pPr>
              <a:buFont typeface="Arial"/>
              <a:buChar char="•"/>
            </a:pPr>
            <a:r>
              <a:rPr lang="en-US" sz="2800">
                <a:ea typeface="+mn-lt"/>
                <a:cs typeface="+mn-lt"/>
              </a:rPr>
              <a:t>Bottom line moving in the right direction</a:t>
            </a:r>
          </a:p>
          <a:p>
            <a:pPr>
              <a:buFont typeface="Arial"/>
              <a:buChar char="•"/>
            </a:pPr>
            <a:r>
              <a:rPr lang="en-US" sz="2800">
                <a:ea typeface="+mn-lt"/>
                <a:cs typeface="+mn-lt"/>
              </a:rPr>
              <a:t>Make the US a major contributor to global position </a:t>
            </a:r>
          </a:p>
          <a:p>
            <a:pPr>
              <a:buFont typeface="Arial"/>
              <a:buChar char="•"/>
            </a:pPr>
            <a:r>
              <a:rPr lang="en-US" sz="2800">
                <a:ea typeface="+mn-lt"/>
                <a:cs typeface="+mn-lt"/>
              </a:rPr>
              <a:t>Ensure US products are suitable for US customers while fitting within L'Oréal's technology portfolio </a:t>
            </a:r>
          </a:p>
          <a:p>
            <a:pPr>
              <a:buFont typeface="Arial"/>
            </a:pPr>
            <a:endParaRPr lang="en-US" sz="2800">
              <a:ea typeface="+mn-lt"/>
              <a:cs typeface="+mn-lt"/>
            </a:endParaRPr>
          </a:p>
          <a:p>
            <a:pPr>
              <a:buNone/>
            </a:pPr>
            <a:endParaRPr lang="en-US" sz="2800">
              <a:cs typeface="Times New Roman"/>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7</a:t>
            </a:fld>
            <a:endParaRPr lang="en-US"/>
          </a:p>
        </p:txBody>
      </p:sp>
      <p:pic>
        <p:nvPicPr>
          <p:cNvPr id="11" name="Picture 11">
            <a:extLst>
              <a:ext uri="{FF2B5EF4-FFF2-40B4-BE49-F238E27FC236}">
                <a16:creationId xmlns:a16="http://schemas.microsoft.com/office/drawing/2014/main" id="{BE355515-A6C8-4A27-B3CF-14FA146C1EDA}"/>
              </a:ext>
            </a:extLst>
          </p:cNvPr>
          <p:cNvPicPr>
            <a:picLocks noGrp="1" noChangeAspect="1"/>
          </p:cNvPicPr>
          <p:nvPr>
            <p:ph type="pic" sz="quarter" idx="33"/>
          </p:nvPr>
        </p:nvPicPr>
        <p:blipFill rotWithShape="1">
          <a:blip r:embed="rId3">
            <a:extLst>
              <a:ext uri="{28A0092B-C50C-407E-A947-70E740481C1C}">
                <a14:useLocalDpi xmlns:a14="http://schemas.microsoft.com/office/drawing/2010/main" val="0"/>
              </a:ext>
            </a:extLst>
          </a:blip>
          <a:srcRect b="5366"/>
          <a:stretch/>
        </p:blipFill>
        <p:spPr>
          <a:xfrm>
            <a:off x="9959835" y="-5698"/>
            <a:ext cx="2229682" cy="6192489"/>
          </a:xfrm>
        </p:spPr>
      </p:pic>
    </p:spTree>
    <p:extLst>
      <p:ext uri="{BB962C8B-B14F-4D97-AF65-F5344CB8AC3E}">
        <p14:creationId xmlns:p14="http://schemas.microsoft.com/office/powerpoint/2010/main" val="7081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a:t>Situational Analysis</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a:lstStyle/>
          <a:p>
            <a:r>
              <a:rPr lang="en-US"/>
              <a:t>An analysis of the competition, position and consumer research.</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1"/>
          </p:nvPr>
        </p:nvSpPr>
        <p:spPr/>
        <p:txBody>
          <a:bodyPr/>
          <a:lstStyle/>
          <a:p>
            <a:fld id="{19B51A1E-902D-48AF-9020-955120F399B6}" type="slidenum">
              <a:rPr lang="en-US" smtClean="0"/>
              <a:pPr/>
              <a:t>8</a:t>
            </a:fld>
            <a:endParaRPr lang="en-US"/>
          </a:p>
        </p:txBody>
      </p:sp>
    </p:spTree>
    <p:extLst>
      <p:ext uri="{BB962C8B-B14F-4D97-AF65-F5344CB8AC3E}">
        <p14:creationId xmlns:p14="http://schemas.microsoft.com/office/powerpoint/2010/main" val="1979577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067F-DFB9-4A0C-B7DC-E2AB1164B450}"/>
              </a:ext>
            </a:extLst>
          </p:cNvPr>
          <p:cNvSpPr>
            <a:spLocks noGrp="1"/>
          </p:cNvSpPr>
          <p:nvPr>
            <p:ph type="title"/>
          </p:nvPr>
        </p:nvSpPr>
        <p:spPr>
          <a:prstGeom prst="rect">
            <a:avLst/>
          </a:prstGeom>
        </p:spPr>
        <p:txBody>
          <a:bodyPr anchor="ctr">
            <a:normAutofit/>
          </a:bodyPr>
          <a:lstStyle/>
          <a:p>
            <a:r>
              <a:rPr lang="en-US" sz="3000"/>
              <a:t>Competition</a:t>
            </a:r>
            <a:endParaRPr lang="en-US" sz="3000">
              <a:cs typeface="Arial"/>
            </a:endParaRPr>
          </a:p>
        </p:txBody>
      </p:sp>
      <p:sp>
        <p:nvSpPr>
          <p:cNvPr id="7" name="Text Placeholder 6">
            <a:extLst>
              <a:ext uri="{FF2B5EF4-FFF2-40B4-BE49-F238E27FC236}">
                <a16:creationId xmlns:a16="http://schemas.microsoft.com/office/drawing/2014/main" id="{FE4CD0B8-BFA9-4998-A849-299A8C1814BE}"/>
              </a:ext>
            </a:extLst>
          </p:cNvPr>
          <p:cNvSpPr>
            <a:spLocks noGrp="1"/>
          </p:cNvSpPr>
          <p:nvPr>
            <p:ph type="body" sz="quarter" idx="12"/>
          </p:nvPr>
        </p:nvSpPr>
        <p:spPr>
          <a:xfrm>
            <a:off x="432403" y="1511476"/>
            <a:ext cx="2916000" cy="4679249"/>
          </a:xfrm>
        </p:spPr>
        <p:txBody>
          <a:bodyPr vert="horz" lIns="0" tIns="0" rIns="0" bIns="0" rtlCol="0" anchor="t">
            <a:noAutofit/>
          </a:bodyPr>
          <a:lstStyle/>
          <a:p>
            <a:pPr marL="0" indent="0">
              <a:buNone/>
            </a:pPr>
            <a:r>
              <a:rPr lang="en-US" sz="3200">
                <a:cs typeface="Times New Roman"/>
              </a:rPr>
              <a:t>Skin Care</a:t>
            </a:r>
            <a:endParaRPr lang="en-US">
              <a:cs typeface="Times New Roman"/>
            </a:endParaRPr>
          </a:p>
          <a:p>
            <a:pPr marL="285750" indent="-285750"/>
            <a:r>
              <a:rPr lang="en-US" sz="2000">
                <a:cs typeface="Times New Roman"/>
              </a:rPr>
              <a:t>Moisturizers</a:t>
            </a:r>
          </a:p>
          <a:p>
            <a:pPr marL="561975" lvl="1" indent="-285750"/>
            <a:r>
              <a:rPr lang="en-US" sz="1800">
                <a:cs typeface="Times New Roman"/>
              </a:rPr>
              <a:t>Daily moisturizers vs. treatment moisturizers</a:t>
            </a:r>
          </a:p>
          <a:p>
            <a:r>
              <a:rPr lang="en-US" sz="2000">
                <a:cs typeface="Times New Roman"/>
              </a:rPr>
              <a:t>Cleaners</a:t>
            </a:r>
          </a:p>
          <a:p>
            <a:pPr marL="0" indent="0">
              <a:buNone/>
            </a:pPr>
            <a:endParaRPr lang="en-US">
              <a:cs typeface="Times New Roman"/>
            </a:endParaRPr>
          </a:p>
          <a:p>
            <a:pPr>
              <a:buFont typeface="Courier New" panose="020B0604020202020204" pitchFamily="34" charset="0"/>
              <a:buChar char="o"/>
            </a:pPr>
            <a:r>
              <a:rPr lang="en-US">
                <a:cs typeface="Times New Roman"/>
              </a:rPr>
              <a:t>P&amp;G's : Oil of Olay</a:t>
            </a:r>
          </a:p>
          <a:p>
            <a:pPr>
              <a:buFont typeface="Courier New" panose="020B0604020202020204" pitchFamily="34" charset="0"/>
              <a:buChar char="o"/>
            </a:pPr>
            <a:r>
              <a:rPr lang="en-US">
                <a:cs typeface="Times New Roman"/>
              </a:rPr>
              <a:t>Nivea</a:t>
            </a:r>
          </a:p>
        </p:txBody>
      </p:sp>
      <p:sp>
        <p:nvSpPr>
          <p:cNvPr id="3" name="Slide Number Placeholder 2">
            <a:extLst>
              <a:ext uri="{FF2B5EF4-FFF2-40B4-BE49-F238E27FC236}">
                <a16:creationId xmlns:a16="http://schemas.microsoft.com/office/drawing/2014/main" id="{6601F553-419D-48AC-BCD4-797A1F036AA4}"/>
              </a:ext>
            </a:extLst>
          </p:cNvPr>
          <p:cNvSpPr>
            <a:spLocks noGrp="1"/>
          </p:cNvSpPr>
          <p:nvPr>
            <p:ph type="sldNum" sz="quarter" idx="15"/>
          </p:nvPr>
        </p:nvSpPr>
        <p:spPr>
          <a:prstGeom prst="rect">
            <a:avLst/>
          </a:prstGeom>
        </p:spPr>
        <p:txBody>
          <a:bodyPr anchor="ctr">
            <a:normAutofit/>
          </a:bodyPr>
          <a:lstStyle/>
          <a:p>
            <a:pPr>
              <a:spcAft>
                <a:spcPts val="600"/>
              </a:spcAft>
            </a:pPr>
            <a:fld id="{19B51A1E-902D-48AF-9020-955120F399B6}" type="slidenum">
              <a:rPr lang="en-US" noProof="0" smtClean="0"/>
              <a:pPr>
                <a:spcAft>
                  <a:spcPts val="600"/>
                </a:spcAft>
              </a:pPr>
              <a:t>9</a:t>
            </a:fld>
            <a:endParaRPr lang="en-US" noProof="0"/>
          </a:p>
        </p:txBody>
      </p:sp>
      <p:graphicFrame>
        <p:nvGraphicFramePr>
          <p:cNvPr id="10" name="Content Placeholder 9">
            <a:extLst>
              <a:ext uri="{FF2B5EF4-FFF2-40B4-BE49-F238E27FC236}">
                <a16:creationId xmlns:a16="http://schemas.microsoft.com/office/drawing/2014/main" id="{BFDEC091-547B-4F03-AC8F-AC5CEE1DE1D9}"/>
              </a:ext>
            </a:extLst>
          </p:cNvPr>
          <p:cNvGraphicFramePr>
            <a:graphicFrameLocks noGrp="1"/>
          </p:cNvGraphicFramePr>
          <p:nvPr>
            <p:ph idx="1"/>
            <p:extLst>
              <p:ext uri="{D42A27DB-BD31-4B8C-83A1-F6EECF244321}">
                <p14:modId xmlns:p14="http://schemas.microsoft.com/office/powerpoint/2010/main" val="2527469681"/>
              </p:ext>
            </p:extLst>
          </p:nvPr>
        </p:nvGraphicFramePr>
        <p:xfrm>
          <a:off x="3505200" y="432000"/>
          <a:ext cx="6124800" cy="5969750"/>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a:extLst>
              <a:ext uri="{FF2B5EF4-FFF2-40B4-BE49-F238E27FC236}">
                <a16:creationId xmlns:a16="http://schemas.microsoft.com/office/drawing/2014/main" id="{5EC5FB7C-8D3D-4D00-8037-91CC5BB10EDD}"/>
              </a:ext>
            </a:extLst>
          </p:cNvPr>
          <p:cNvPicPr>
            <a:picLocks noChangeAspect="1"/>
          </p:cNvPicPr>
          <p:nvPr/>
        </p:nvPicPr>
        <p:blipFill rotWithShape="1">
          <a:blip r:embed="rId4">
            <a:extLst>
              <a:ext uri="{28A0092B-C50C-407E-A947-70E740481C1C}">
                <a14:useLocalDpi xmlns:a14="http://schemas.microsoft.com/office/drawing/2010/main" val="0"/>
              </a:ext>
            </a:extLst>
          </a:blip>
          <a:srcRect t="2796" b="1614"/>
          <a:stretch/>
        </p:blipFill>
        <p:spPr>
          <a:xfrm>
            <a:off x="9974896" y="-3517"/>
            <a:ext cx="2217104" cy="6219824"/>
          </a:xfrm>
          <a:prstGeom prst="rect">
            <a:avLst/>
          </a:prstGeom>
        </p:spPr>
      </p:pic>
    </p:spTree>
    <p:extLst>
      <p:ext uri="{BB962C8B-B14F-4D97-AF65-F5344CB8AC3E}">
        <p14:creationId xmlns:p14="http://schemas.microsoft.com/office/powerpoint/2010/main" val="331392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DE1C-DDEA-4391-9FBC-75FB6D5D5024}"/>
              </a:ext>
            </a:extLst>
          </p:cNvPr>
          <p:cNvSpPr>
            <a:spLocks noGrp="1"/>
          </p:cNvSpPr>
          <p:nvPr>
            <p:ph type="title"/>
          </p:nvPr>
        </p:nvSpPr>
        <p:spPr/>
        <p:txBody>
          <a:bodyPr/>
          <a:lstStyle/>
          <a:p>
            <a:r>
              <a:rPr lang="en-US"/>
              <a:t>Market Size and Brand Share</a:t>
            </a:r>
          </a:p>
        </p:txBody>
      </p:sp>
      <p:sp>
        <p:nvSpPr>
          <p:cNvPr id="3" name="Text Placeholder 2">
            <a:extLst>
              <a:ext uri="{FF2B5EF4-FFF2-40B4-BE49-F238E27FC236}">
                <a16:creationId xmlns:a16="http://schemas.microsoft.com/office/drawing/2014/main" id="{3CE0304E-8A8F-4832-8D1E-C986497CCCD8}"/>
              </a:ext>
            </a:extLst>
          </p:cNvPr>
          <p:cNvSpPr>
            <a:spLocks noGrp="1"/>
          </p:cNvSpPr>
          <p:nvPr>
            <p:ph type="body" sz="quarter" idx="32"/>
          </p:nvPr>
        </p:nvSpPr>
        <p:spPr/>
        <p:txBody>
          <a:bodyPr/>
          <a:lstStyle/>
          <a:p>
            <a:r>
              <a:rPr lang="en-US"/>
              <a:t>Moisturizers Market Size</a:t>
            </a:r>
          </a:p>
        </p:txBody>
      </p:sp>
      <p:graphicFrame>
        <p:nvGraphicFramePr>
          <p:cNvPr id="8" name="Content Placeholder 7">
            <a:extLst>
              <a:ext uri="{FF2B5EF4-FFF2-40B4-BE49-F238E27FC236}">
                <a16:creationId xmlns:a16="http://schemas.microsoft.com/office/drawing/2014/main" id="{B1CB560E-8C3C-4457-A36F-5819D71BB7FF}"/>
              </a:ext>
            </a:extLst>
          </p:cNvPr>
          <p:cNvGraphicFramePr>
            <a:graphicFrameLocks noGrp="1"/>
          </p:cNvGraphicFramePr>
          <p:nvPr>
            <p:ph idx="1"/>
            <p:extLst>
              <p:ext uri="{D42A27DB-BD31-4B8C-83A1-F6EECF244321}">
                <p14:modId xmlns:p14="http://schemas.microsoft.com/office/powerpoint/2010/main" val="3242634931"/>
              </p:ext>
            </p:extLst>
          </p:nvPr>
        </p:nvGraphicFramePr>
        <p:xfrm>
          <a:off x="431800" y="2321168"/>
          <a:ext cx="9197975" cy="3870081"/>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a:extLst>
              <a:ext uri="{FF2B5EF4-FFF2-40B4-BE49-F238E27FC236}">
                <a16:creationId xmlns:a16="http://schemas.microsoft.com/office/drawing/2014/main" id="{3A743625-3577-4CCE-8D0D-63816637F154}"/>
              </a:ext>
            </a:extLst>
          </p:cNvPr>
          <p:cNvSpPr>
            <a:spLocks noGrp="1"/>
          </p:cNvSpPr>
          <p:nvPr>
            <p:ph type="sldNum" sz="quarter" idx="33"/>
          </p:nvPr>
        </p:nvSpPr>
        <p:spPr/>
        <p:txBody>
          <a:bodyPr/>
          <a:lstStyle/>
          <a:p>
            <a:fld id="{19B51A1E-902D-48AF-9020-955120F399B6}" type="slidenum">
              <a:rPr lang="en-US" noProof="0" smtClean="0"/>
              <a:pPr/>
              <a:t>10</a:t>
            </a:fld>
            <a:endParaRPr lang="en-US" noProof="0"/>
          </a:p>
        </p:txBody>
      </p:sp>
      <p:pic>
        <p:nvPicPr>
          <p:cNvPr id="6" name="Picture 5" descr="A picture containing person, teeth, brushing, toothbrush&#10;&#10;Description automatically generated">
            <a:extLst>
              <a:ext uri="{FF2B5EF4-FFF2-40B4-BE49-F238E27FC236}">
                <a16:creationId xmlns:a16="http://schemas.microsoft.com/office/drawing/2014/main" id="{0BCC8D37-8F00-4F74-9682-D9ECA235B71E}"/>
              </a:ext>
            </a:extLst>
          </p:cNvPr>
          <p:cNvPicPr>
            <a:picLocks noChangeAspect="1"/>
          </p:cNvPicPr>
          <p:nvPr/>
        </p:nvPicPr>
        <p:blipFill rotWithShape="1">
          <a:blip r:embed="rId4">
            <a:extLst>
              <a:ext uri="{28A0092B-C50C-407E-A947-70E740481C1C}">
                <a14:useLocalDpi xmlns:a14="http://schemas.microsoft.com/office/drawing/2010/main" val="0"/>
              </a:ext>
            </a:extLst>
          </a:blip>
          <a:srcRect b="-5170"/>
          <a:stretch/>
        </p:blipFill>
        <p:spPr>
          <a:xfrm>
            <a:off x="9973320" y="-1"/>
            <a:ext cx="2218680" cy="6511343"/>
          </a:xfrm>
          <a:prstGeom prst="rect">
            <a:avLst/>
          </a:prstGeom>
        </p:spPr>
      </p:pic>
    </p:spTree>
    <p:extLst>
      <p:ext uri="{BB962C8B-B14F-4D97-AF65-F5344CB8AC3E}">
        <p14:creationId xmlns:p14="http://schemas.microsoft.com/office/powerpoint/2010/main" val="415791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DE1C-DDEA-4391-9FBC-75FB6D5D5024}"/>
              </a:ext>
            </a:extLst>
          </p:cNvPr>
          <p:cNvSpPr>
            <a:spLocks noGrp="1"/>
          </p:cNvSpPr>
          <p:nvPr>
            <p:ph type="title"/>
          </p:nvPr>
        </p:nvSpPr>
        <p:spPr/>
        <p:txBody>
          <a:bodyPr/>
          <a:lstStyle/>
          <a:p>
            <a:r>
              <a:rPr lang="en-US"/>
              <a:t>Market Size and Brand Share</a:t>
            </a:r>
          </a:p>
        </p:txBody>
      </p:sp>
      <p:sp>
        <p:nvSpPr>
          <p:cNvPr id="3" name="Text Placeholder 2">
            <a:extLst>
              <a:ext uri="{FF2B5EF4-FFF2-40B4-BE49-F238E27FC236}">
                <a16:creationId xmlns:a16="http://schemas.microsoft.com/office/drawing/2014/main" id="{0DA4FCE3-305F-4FDA-A9D0-E64373C71498}"/>
              </a:ext>
            </a:extLst>
          </p:cNvPr>
          <p:cNvSpPr>
            <a:spLocks noGrp="1"/>
          </p:cNvSpPr>
          <p:nvPr>
            <p:ph type="body" sz="quarter" idx="32"/>
          </p:nvPr>
        </p:nvSpPr>
        <p:spPr/>
        <p:txBody>
          <a:bodyPr/>
          <a:lstStyle/>
          <a:p>
            <a:r>
              <a:rPr lang="en-US"/>
              <a:t>Brand Share of Moisturizers</a:t>
            </a:r>
          </a:p>
        </p:txBody>
      </p:sp>
      <p:sp>
        <p:nvSpPr>
          <p:cNvPr id="5" name="Slide Number Placeholder 4">
            <a:extLst>
              <a:ext uri="{FF2B5EF4-FFF2-40B4-BE49-F238E27FC236}">
                <a16:creationId xmlns:a16="http://schemas.microsoft.com/office/drawing/2014/main" id="{3A743625-3577-4CCE-8D0D-63816637F154}"/>
              </a:ext>
            </a:extLst>
          </p:cNvPr>
          <p:cNvSpPr>
            <a:spLocks noGrp="1"/>
          </p:cNvSpPr>
          <p:nvPr>
            <p:ph type="sldNum" sz="quarter" idx="33"/>
          </p:nvPr>
        </p:nvSpPr>
        <p:spPr/>
        <p:txBody>
          <a:bodyPr/>
          <a:lstStyle/>
          <a:p>
            <a:fld id="{19B51A1E-902D-48AF-9020-955120F399B6}" type="slidenum">
              <a:rPr lang="en-US" noProof="0" smtClean="0"/>
              <a:pPr/>
              <a:t>11</a:t>
            </a:fld>
            <a:endParaRPr lang="en-US" noProof="0"/>
          </a:p>
        </p:txBody>
      </p:sp>
      <p:graphicFrame>
        <p:nvGraphicFramePr>
          <p:cNvPr id="8" name="Content Placeholder 7">
            <a:extLst>
              <a:ext uri="{FF2B5EF4-FFF2-40B4-BE49-F238E27FC236}">
                <a16:creationId xmlns:a16="http://schemas.microsoft.com/office/drawing/2014/main" id="{B1CB560E-8C3C-4457-A36F-5819D71BB7FF}"/>
              </a:ext>
            </a:extLst>
          </p:cNvPr>
          <p:cNvGraphicFramePr>
            <a:graphicFrameLocks noGrp="1"/>
          </p:cNvGraphicFramePr>
          <p:nvPr>
            <p:ph idx="4294967295"/>
            <p:extLst>
              <p:ext uri="{D42A27DB-BD31-4B8C-83A1-F6EECF244321}">
                <p14:modId xmlns:p14="http://schemas.microsoft.com/office/powerpoint/2010/main" val="743008457"/>
              </p:ext>
            </p:extLst>
          </p:nvPr>
        </p:nvGraphicFramePr>
        <p:xfrm>
          <a:off x="431801" y="1511300"/>
          <a:ext cx="9197975" cy="4679950"/>
        </p:xfrm>
        <a:graphic>
          <a:graphicData uri="http://schemas.openxmlformats.org/drawingml/2006/chart">
            <c:chart xmlns:c="http://schemas.openxmlformats.org/drawingml/2006/chart" xmlns:r="http://schemas.openxmlformats.org/officeDocument/2006/relationships" r:id="rId3"/>
          </a:graphicData>
        </a:graphic>
      </p:graphicFrame>
      <p:pic>
        <p:nvPicPr>
          <p:cNvPr id="6" name="Picture 5" descr="A picture containing person, man, teeth, mouth&#10;&#10;Description automatically generated">
            <a:extLst>
              <a:ext uri="{FF2B5EF4-FFF2-40B4-BE49-F238E27FC236}">
                <a16:creationId xmlns:a16="http://schemas.microsoft.com/office/drawing/2014/main" id="{81E80616-1E08-4D6D-BDE4-42F24C29D6C1}"/>
              </a:ext>
            </a:extLst>
          </p:cNvPr>
          <p:cNvPicPr>
            <a:picLocks noChangeAspect="1"/>
          </p:cNvPicPr>
          <p:nvPr/>
        </p:nvPicPr>
        <p:blipFill rotWithShape="1">
          <a:blip r:embed="rId4">
            <a:extLst>
              <a:ext uri="{28A0092B-C50C-407E-A947-70E740481C1C}">
                <a14:useLocalDpi xmlns:a14="http://schemas.microsoft.com/office/drawing/2010/main" val="0"/>
              </a:ext>
            </a:extLst>
          </a:blip>
          <a:srcRect b="5088"/>
          <a:stretch/>
        </p:blipFill>
        <p:spPr>
          <a:xfrm>
            <a:off x="9969300" y="-1"/>
            <a:ext cx="2222700" cy="6191251"/>
          </a:xfrm>
          <a:prstGeom prst="rect">
            <a:avLst/>
          </a:prstGeom>
        </p:spPr>
      </p:pic>
    </p:spTree>
    <p:extLst>
      <p:ext uri="{BB962C8B-B14F-4D97-AF65-F5344CB8AC3E}">
        <p14:creationId xmlns:p14="http://schemas.microsoft.com/office/powerpoint/2010/main" val="447067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DE1C-DDEA-4391-9FBC-75FB6D5D5024}"/>
              </a:ext>
            </a:extLst>
          </p:cNvPr>
          <p:cNvSpPr>
            <a:spLocks noGrp="1"/>
          </p:cNvSpPr>
          <p:nvPr>
            <p:ph type="title"/>
          </p:nvPr>
        </p:nvSpPr>
        <p:spPr/>
        <p:txBody>
          <a:bodyPr/>
          <a:lstStyle/>
          <a:p>
            <a:r>
              <a:rPr lang="en-US"/>
              <a:t>Brand Development</a:t>
            </a:r>
          </a:p>
        </p:txBody>
      </p:sp>
      <p:sp>
        <p:nvSpPr>
          <p:cNvPr id="3" name="Text Placeholder 2">
            <a:extLst>
              <a:ext uri="{FF2B5EF4-FFF2-40B4-BE49-F238E27FC236}">
                <a16:creationId xmlns:a16="http://schemas.microsoft.com/office/drawing/2014/main" id="{0DA4FCE3-305F-4FDA-A9D0-E64373C71498}"/>
              </a:ext>
            </a:extLst>
          </p:cNvPr>
          <p:cNvSpPr>
            <a:spLocks noGrp="1"/>
          </p:cNvSpPr>
          <p:nvPr>
            <p:ph type="body" sz="quarter" idx="32"/>
          </p:nvPr>
        </p:nvSpPr>
        <p:spPr/>
        <p:txBody>
          <a:bodyPr/>
          <a:lstStyle/>
          <a:p>
            <a:r>
              <a:rPr lang="en-US"/>
              <a:t>L'Oréal Plénitude vs. Competitors: Familiarity and Experience</a:t>
            </a:r>
          </a:p>
        </p:txBody>
      </p:sp>
      <p:sp>
        <p:nvSpPr>
          <p:cNvPr id="5" name="Slide Number Placeholder 4">
            <a:extLst>
              <a:ext uri="{FF2B5EF4-FFF2-40B4-BE49-F238E27FC236}">
                <a16:creationId xmlns:a16="http://schemas.microsoft.com/office/drawing/2014/main" id="{3A743625-3577-4CCE-8D0D-63816637F154}"/>
              </a:ext>
            </a:extLst>
          </p:cNvPr>
          <p:cNvSpPr>
            <a:spLocks noGrp="1"/>
          </p:cNvSpPr>
          <p:nvPr>
            <p:ph type="sldNum" sz="quarter" idx="33"/>
          </p:nvPr>
        </p:nvSpPr>
        <p:spPr/>
        <p:txBody>
          <a:bodyPr/>
          <a:lstStyle/>
          <a:p>
            <a:fld id="{19B51A1E-902D-48AF-9020-955120F399B6}" type="slidenum">
              <a:rPr lang="en-US" noProof="0" smtClean="0"/>
              <a:pPr/>
              <a:t>12</a:t>
            </a:fld>
            <a:endParaRPr lang="en-US" noProof="0"/>
          </a:p>
        </p:txBody>
      </p:sp>
      <p:graphicFrame>
        <p:nvGraphicFramePr>
          <p:cNvPr id="7" name="Chart 6">
            <a:extLst>
              <a:ext uri="{FF2B5EF4-FFF2-40B4-BE49-F238E27FC236}">
                <a16:creationId xmlns:a16="http://schemas.microsoft.com/office/drawing/2014/main" id="{5864E25E-6B1C-41FF-9489-A132B58071B6}"/>
              </a:ext>
            </a:extLst>
          </p:cNvPr>
          <p:cNvGraphicFramePr/>
          <p:nvPr>
            <p:extLst>
              <p:ext uri="{D42A27DB-BD31-4B8C-83A1-F6EECF244321}">
                <p14:modId xmlns:p14="http://schemas.microsoft.com/office/powerpoint/2010/main" val="3736560834"/>
              </p:ext>
            </p:extLst>
          </p:nvPr>
        </p:nvGraphicFramePr>
        <p:xfrm>
          <a:off x="431801" y="1512000"/>
          <a:ext cx="9373681" cy="5026914"/>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descr="A picture containing person, indoor, toothbrush, brushing&#10;&#10;Description automatically generated">
            <a:extLst>
              <a:ext uri="{FF2B5EF4-FFF2-40B4-BE49-F238E27FC236}">
                <a16:creationId xmlns:a16="http://schemas.microsoft.com/office/drawing/2014/main" id="{55D49C12-6F12-4414-9DAC-62CC40739E64}"/>
              </a:ext>
            </a:extLst>
          </p:cNvPr>
          <p:cNvPicPr>
            <a:picLocks noChangeAspect="1"/>
          </p:cNvPicPr>
          <p:nvPr/>
        </p:nvPicPr>
        <p:blipFill rotWithShape="1">
          <a:blip r:embed="rId4">
            <a:extLst>
              <a:ext uri="{28A0092B-C50C-407E-A947-70E740481C1C}">
                <a14:useLocalDpi xmlns:a14="http://schemas.microsoft.com/office/drawing/2010/main" val="0"/>
              </a:ext>
            </a:extLst>
          </a:blip>
          <a:srcRect b="5501"/>
          <a:stretch/>
        </p:blipFill>
        <p:spPr>
          <a:xfrm>
            <a:off x="9973320" y="-1"/>
            <a:ext cx="2218680" cy="6153151"/>
          </a:xfrm>
          <a:prstGeom prst="rect">
            <a:avLst/>
          </a:prstGeom>
        </p:spPr>
      </p:pic>
    </p:spTree>
    <p:extLst>
      <p:ext uri="{BB962C8B-B14F-4D97-AF65-F5344CB8AC3E}">
        <p14:creationId xmlns:p14="http://schemas.microsoft.com/office/powerpoint/2010/main" val="1481551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BCAB9-FF97-4340-804F-5BE0C160A5E4}"/>
              </a:ext>
            </a:extLst>
          </p:cNvPr>
          <p:cNvSpPr>
            <a:spLocks noGrp="1"/>
          </p:cNvSpPr>
          <p:nvPr>
            <p:ph type="title"/>
          </p:nvPr>
        </p:nvSpPr>
        <p:spPr/>
        <p:txBody>
          <a:bodyPr/>
          <a:lstStyle/>
          <a:p>
            <a:r>
              <a:rPr lang="en-US"/>
              <a:t>Three Types of Studies</a:t>
            </a:r>
          </a:p>
        </p:txBody>
      </p:sp>
      <p:sp>
        <p:nvSpPr>
          <p:cNvPr id="3" name="Text Placeholder 2">
            <a:extLst>
              <a:ext uri="{FF2B5EF4-FFF2-40B4-BE49-F238E27FC236}">
                <a16:creationId xmlns:a16="http://schemas.microsoft.com/office/drawing/2014/main" id="{A83ACED7-AFFC-4B02-8878-96CC887B71A1}"/>
              </a:ext>
            </a:extLst>
          </p:cNvPr>
          <p:cNvSpPr>
            <a:spLocks noGrp="1"/>
          </p:cNvSpPr>
          <p:nvPr>
            <p:ph type="body" sz="quarter" idx="32"/>
          </p:nvPr>
        </p:nvSpPr>
        <p:spPr/>
        <p:txBody>
          <a:bodyPr/>
          <a:lstStyle/>
          <a:p>
            <a:r>
              <a:rPr lang="en-US"/>
              <a:t>Custom Market Research Studies Commissioned for Pl</a:t>
            </a:r>
            <a:r>
              <a:rPr lang="en-US">
                <a:ea typeface="+mn-lt"/>
                <a:cs typeface="+mn-lt"/>
              </a:rPr>
              <a:t>é</a:t>
            </a:r>
            <a:r>
              <a:rPr lang="en-US"/>
              <a:t>nitude</a:t>
            </a:r>
          </a:p>
        </p:txBody>
      </p:sp>
      <p:sp>
        <p:nvSpPr>
          <p:cNvPr id="4" name="Content Placeholder 3">
            <a:extLst>
              <a:ext uri="{FF2B5EF4-FFF2-40B4-BE49-F238E27FC236}">
                <a16:creationId xmlns:a16="http://schemas.microsoft.com/office/drawing/2014/main" id="{493CC124-3337-4727-AFA4-5C0B132B9506}"/>
              </a:ext>
            </a:extLst>
          </p:cNvPr>
          <p:cNvSpPr>
            <a:spLocks noGrp="1"/>
          </p:cNvSpPr>
          <p:nvPr>
            <p:ph idx="1"/>
          </p:nvPr>
        </p:nvSpPr>
        <p:spPr>
          <a:xfrm>
            <a:off x="432000" y="2801566"/>
            <a:ext cx="2916000" cy="3389683"/>
          </a:xfrm>
        </p:spPr>
        <p:txBody>
          <a:bodyPr vert="horz" lIns="0" tIns="0" rIns="0" bIns="0" rtlCol="0" anchor="t">
            <a:noAutofit/>
          </a:bodyPr>
          <a:lstStyle/>
          <a:p>
            <a:pPr lvl="1"/>
            <a:r>
              <a:rPr lang="en-US" sz="2000">
                <a:solidFill>
                  <a:schemeClr val="tx1"/>
                </a:solidFill>
                <a:cs typeface="Times New Roman"/>
              </a:rPr>
              <a:t>Telephone and mail survey</a:t>
            </a:r>
          </a:p>
          <a:p>
            <a:pPr lvl="1"/>
            <a:r>
              <a:rPr lang="en-US" sz="2000">
                <a:solidFill>
                  <a:schemeClr val="tx1"/>
                </a:solidFill>
                <a:cs typeface="Times New Roman"/>
              </a:rPr>
              <a:t>Over 3,500 women ages 16–69</a:t>
            </a:r>
          </a:p>
          <a:p>
            <a:pPr lvl="1"/>
            <a:r>
              <a:rPr lang="en-US" sz="2000">
                <a:solidFill>
                  <a:schemeClr val="tx1"/>
                </a:solidFill>
                <a:cs typeface="Times New Roman"/>
              </a:rPr>
              <a:t>Use one or more moisturizers or treatment creams at least once a week</a:t>
            </a:r>
          </a:p>
          <a:p>
            <a:endParaRPr lang="en-US"/>
          </a:p>
        </p:txBody>
      </p:sp>
      <p:sp>
        <p:nvSpPr>
          <p:cNvPr id="5" name="Text Placeholder 4">
            <a:extLst>
              <a:ext uri="{FF2B5EF4-FFF2-40B4-BE49-F238E27FC236}">
                <a16:creationId xmlns:a16="http://schemas.microsoft.com/office/drawing/2014/main" id="{727DFDB1-3E71-44F2-B16D-ADC009E81C41}"/>
              </a:ext>
            </a:extLst>
          </p:cNvPr>
          <p:cNvSpPr>
            <a:spLocks noGrp="1"/>
          </p:cNvSpPr>
          <p:nvPr>
            <p:ph type="body" sz="quarter" idx="12"/>
          </p:nvPr>
        </p:nvSpPr>
        <p:spPr>
          <a:xfrm>
            <a:off x="3572900" y="2801042"/>
            <a:ext cx="2916000" cy="3389683"/>
          </a:xfrm>
        </p:spPr>
        <p:txBody>
          <a:bodyPr/>
          <a:lstStyle/>
          <a:p>
            <a:pPr lvl="1"/>
            <a:r>
              <a:rPr lang="en-US" sz="2000">
                <a:cs typeface="Times New Roman"/>
              </a:rPr>
              <a:t>People who have used </a:t>
            </a:r>
            <a:r>
              <a:rPr lang="en-US" sz="2000" err="1">
                <a:cs typeface="Times New Roman"/>
              </a:rPr>
              <a:t>Pl</a:t>
            </a:r>
            <a:r>
              <a:rPr lang="en-US" sz="2000" err="1">
                <a:ea typeface="+mn-lt"/>
                <a:cs typeface="+mn-lt"/>
              </a:rPr>
              <a:t>é</a:t>
            </a:r>
            <a:r>
              <a:rPr lang="en-US" sz="2000" err="1">
                <a:cs typeface="Times New Roman"/>
              </a:rPr>
              <a:t>ntitude</a:t>
            </a:r>
            <a:endParaRPr lang="en-US" sz="2000">
              <a:cs typeface="Times New Roman"/>
            </a:endParaRPr>
          </a:p>
          <a:p>
            <a:pPr lvl="3"/>
            <a:r>
              <a:rPr lang="en-US" sz="1800">
                <a:cs typeface="Times New Roman"/>
              </a:rPr>
              <a:t>Four 2-hr focus groups in Boston and Dallas</a:t>
            </a:r>
          </a:p>
          <a:p>
            <a:pPr lvl="1"/>
            <a:r>
              <a:rPr lang="en-US" sz="2000">
                <a:cs typeface="Times New Roman"/>
              </a:rPr>
              <a:t>Acceptors and rejectors of Olay and Ponds</a:t>
            </a:r>
          </a:p>
          <a:p>
            <a:endParaRPr lang="en-US"/>
          </a:p>
        </p:txBody>
      </p:sp>
      <p:sp>
        <p:nvSpPr>
          <p:cNvPr id="6" name="Text Placeholder 5">
            <a:extLst>
              <a:ext uri="{FF2B5EF4-FFF2-40B4-BE49-F238E27FC236}">
                <a16:creationId xmlns:a16="http://schemas.microsoft.com/office/drawing/2014/main" id="{B661FD27-B226-438B-AE2C-3C841A6BB9DB}"/>
              </a:ext>
            </a:extLst>
          </p:cNvPr>
          <p:cNvSpPr>
            <a:spLocks noGrp="1"/>
          </p:cNvSpPr>
          <p:nvPr>
            <p:ph type="body" sz="quarter" idx="13"/>
          </p:nvPr>
        </p:nvSpPr>
        <p:spPr>
          <a:xfrm>
            <a:off x="6713800" y="2801041"/>
            <a:ext cx="2916000" cy="3389683"/>
          </a:xfrm>
        </p:spPr>
        <p:txBody>
          <a:bodyPr/>
          <a:lstStyle/>
          <a:p>
            <a:pPr lvl="1"/>
            <a:r>
              <a:rPr lang="en-US" sz="2000">
                <a:cs typeface="Times New Roman"/>
              </a:rPr>
              <a:t>Ten groups of 5 people each</a:t>
            </a:r>
          </a:p>
          <a:p>
            <a:pPr lvl="1"/>
            <a:r>
              <a:rPr lang="en-US" sz="2000">
                <a:cs typeface="Times New Roman"/>
              </a:rPr>
              <a:t>Exposed to mockup of </a:t>
            </a:r>
            <a:r>
              <a:rPr lang="en-US" sz="2000" err="1">
                <a:cs typeface="Times New Roman"/>
              </a:rPr>
              <a:t>Pl</a:t>
            </a:r>
            <a:r>
              <a:rPr lang="en-US" sz="2000" err="1">
                <a:ea typeface="+mn-lt"/>
                <a:cs typeface="+mn-lt"/>
              </a:rPr>
              <a:t>é</a:t>
            </a:r>
            <a:r>
              <a:rPr lang="en-US" sz="2000" err="1">
                <a:cs typeface="Times New Roman"/>
              </a:rPr>
              <a:t>ntitude</a:t>
            </a:r>
            <a:r>
              <a:rPr lang="en-US" sz="2000">
                <a:cs typeface="Times New Roman"/>
              </a:rPr>
              <a:t> shelf</a:t>
            </a:r>
          </a:p>
          <a:p>
            <a:pPr lvl="1"/>
            <a:r>
              <a:rPr lang="en-US" sz="2000">
                <a:cs typeface="Times New Roman"/>
              </a:rPr>
              <a:t>Asked to evaluate on </a:t>
            </a:r>
            <a:r>
              <a:rPr lang="en-US" sz="2000" err="1">
                <a:cs typeface="Times New Roman"/>
              </a:rPr>
              <a:t>shopability</a:t>
            </a:r>
            <a:endParaRPr lang="en-US" sz="2000">
              <a:cs typeface="Times New Roman"/>
            </a:endParaRPr>
          </a:p>
          <a:p>
            <a:endParaRPr lang="en-US"/>
          </a:p>
        </p:txBody>
      </p:sp>
      <p:sp>
        <p:nvSpPr>
          <p:cNvPr id="7" name="Slide Number Placeholder 6">
            <a:extLst>
              <a:ext uri="{FF2B5EF4-FFF2-40B4-BE49-F238E27FC236}">
                <a16:creationId xmlns:a16="http://schemas.microsoft.com/office/drawing/2014/main" id="{6E6E9C20-4475-47F3-A7DC-CD2AF273AFE1}"/>
              </a:ext>
            </a:extLst>
          </p:cNvPr>
          <p:cNvSpPr>
            <a:spLocks noGrp="1"/>
          </p:cNvSpPr>
          <p:nvPr>
            <p:ph type="sldNum" sz="quarter" idx="15"/>
          </p:nvPr>
        </p:nvSpPr>
        <p:spPr/>
        <p:txBody>
          <a:bodyPr/>
          <a:lstStyle/>
          <a:p>
            <a:fld id="{19B51A1E-902D-48AF-9020-955120F399B6}" type="slidenum">
              <a:rPr lang="en-US" noProof="0" smtClean="0"/>
              <a:pPr/>
              <a:t>13</a:t>
            </a:fld>
            <a:endParaRPr lang="en-US" noProof="0"/>
          </a:p>
        </p:txBody>
      </p:sp>
      <p:sp>
        <p:nvSpPr>
          <p:cNvPr id="8" name="Text Placeholder 3">
            <a:extLst>
              <a:ext uri="{FF2B5EF4-FFF2-40B4-BE49-F238E27FC236}">
                <a16:creationId xmlns:a16="http://schemas.microsoft.com/office/drawing/2014/main" id="{C6AF3B80-42CC-49E1-A28D-FF80B326C98B}"/>
              </a:ext>
            </a:extLst>
          </p:cNvPr>
          <p:cNvSpPr txBox="1">
            <a:spLocks/>
          </p:cNvSpPr>
          <p:nvPr/>
        </p:nvSpPr>
        <p:spPr>
          <a:xfrm>
            <a:off x="432000" y="1511475"/>
            <a:ext cx="2916000" cy="1130160"/>
          </a:xfrm>
          <a:prstGeom prst="rect">
            <a:avLst/>
          </a:prstGeom>
          <a:solidFill>
            <a:schemeClr val="tx1"/>
          </a:solidFill>
        </p:spPr>
        <p:txBody>
          <a:bodyPr vert="horz" lIns="91440" tIns="0" rIns="0" bIns="0" rtlCol="0" anchor="ctr"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3000"/>
              </a:spcBef>
              <a:buNone/>
            </a:pPr>
            <a:r>
              <a:rPr lang="en-US" sz="3200" b="1">
                <a:solidFill>
                  <a:srgbClr val="FFFFFF"/>
                </a:solidFill>
              </a:rPr>
              <a:t>Facial Skin Market Study</a:t>
            </a:r>
          </a:p>
        </p:txBody>
      </p:sp>
      <p:sp>
        <p:nvSpPr>
          <p:cNvPr id="9" name="Text Placeholder 3">
            <a:extLst>
              <a:ext uri="{FF2B5EF4-FFF2-40B4-BE49-F238E27FC236}">
                <a16:creationId xmlns:a16="http://schemas.microsoft.com/office/drawing/2014/main" id="{3F2E48E1-21C2-4513-B777-0E8516B4A50F}"/>
              </a:ext>
            </a:extLst>
          </p:cNvPr>
          <p:cNvSpPr txBox="1">
            <a:spLocks/>
          </p:cNvSpPr>
          <p:nvPr/>
        </p:nvSpPr>
        <p:spPr>
          <a:xfrm>
            <a:off x="3474323" y="1515762"/>
            <a:ext cx="3130025" cy="1130161"/>
          </a:xfrm>
          <a:prstGeom prst="rect">
            <a:avLst/>
          </a:prstGeom>
          <a:solidFill>
            <a:schemeClr val="tx1"/>
          </a:solidFill>
        </p:spPr>
        <p:txBody>
          <a:bodyPr vert="horz" lIns="91440" tIns="0" rIns="0" bIns="0" rtlCol="0" anchor="ctr"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3000"/>
              </a:spcBef>
              <a:buNone/>
            </a:pPr>
            <a:r>
              <a:rPr lang="en-US" sz="2400" b="1">
                <a:solidFill>
                  <a:srgbClr val="FFFFFF"/>
                </a:solidFill>
              </a:rPr>
              <a:t>Qualitative study among acceptors and rejectors of </a:t>
            </a:r>
            <a:r>
              <a:rPr lang="en-US" sz="2400" b="1" err="1">
                <a:solidFill>
                  <a:srgbClr val="FFFFFF"/>
                </a:solidFill>
              </a:rPr>
              <a:t>Pléntitude</a:t>
            </a:r>
            <a:endParaRPr lang="en-US" sz="2400" b="1">
              <a:solidFill>
                <a:srgbClr val="FFFFFF"/>
              </a:solidFill>
            </a:endParaRPr>
          </a:p>
        </p:txBody>
      </p:sp>
      <p:sp>
        <p:nvSpPr>
          <p:cNvPr id="10" name="Text Placeholder 3">
            <a:extLst>
              <a:ext uri="{FF2B5EF4-FFF2-40B4-BE49-F238E27FC236}">
                <a16:creationId xmlns:a16="http://schemas.microsoft.com/office/drawing/2014/main" id="{DE95EAC7-24DE-4A0A-87D8-6DB9C84C9C5B}"/>
              </a:ext>
            </a:extLst>
          </p:cNvPr>
          <p:cNvSpPr txBox="1">
            <a:spLocks/>
          </p:cNvSpPr>
          <p:nvPr/>
        </p:nvSpPr>
        <p:spPr>
          <a:xfrm>
            <a:off x="6713800" y="1511475"/>
            <a:ext cx="2916000" cy="1130160"/>
          </a:xfrm>
          <a:prstGeom prst="rect">
            <a:avLst/>
          </a:prstGeom>
          <a:solidFill>
            <a:schemeClr val="tx1"/>
          </a:solidFill>
        </p:spPr>
        <p:txBody>
          <a:bodyPr vert="horz" lIns="91440" tIns="0" rIns="0" bIns="0" rtlCol="0" anchor="ctr"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3000"/>
              </a:spcBef>
              <a:buNone/>
            </a:pPr>
            <a:r>
              <a:rPr lang="en-US" sz="3200" b="1">
                <a:solidFill>
                  <a:srgbClr val="FFFFFF"/>
                </a:solidFill>
              </a:rPr>
              <a:t>Plénitude Self-Shopping Study</a:t>
            </a:r>
          </a:p>
        </p:txBody>
      </p:sp>
      <p:pic>
        <p:nvPicPr>
          <p:cNvPr id="13" name="Picture 7">
            <a:extLst>
              <a:ext uri="{FF2B5EF4-FFF2-40B4-BE49-F238E27FC236}">
                <a16:creationId xmlns:a16="http://schemas.microsoft.com/office/drawing/2014/main" id="{B4F2FC7C-AA09-42A3-9935-F00A9C6FA981}"/>
              </a:ext>
            </a:extLst>
          </p:cNvPr>
          <p:cNvPicPr>
            <a:picLocks noChangeAspect="1"/>
          </p:cNvPicPr>
          <p:nvPr/>
        </p:nvPicPr>
        <p:blipFill rotWithShape="1">
          <a:blip r:embed="rId3">
            <a:extLst>
              <a:ext uri="{28A0092B-C50C-407E-A947-70E740481C1C}">
                <a14:useLocalDpi xmlns:a14="http://schemas.microsoft.com/office/drawing/2010/main" val="0"/>
              </a:ext>
            </a:extLst>
          </a:blip>
          <a:srcRect t="1" b="-5356"/>
          <a:stretch/>
        </p:blipFill>
        <p:spPr>
          <a:xfrm>
            <a:off x="9970148" y="1531"/>
            <a:ext cx="2221852" cy="6520653"/>
          </a:xfrm>
          <a:prstGeom prst="rect">
            <a:avLst/>
          </a:prstGeom>
        </p:spPr>
      </p:pic>
    </p:spTree>
    <p:extLst>
      <p:ext uri="{BB962C8B-B14F-4D97-AF65-F5344CB8AC3E}">
        <p14:creationId xmlns:p14="http://schemas.microsoft.com/office/powerpoint/2010/main" val="908094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829C-A479-444D-AB24-10FD8CB43F19}"/>
              </a:ext>
            </a:extLst>
          </p:cNvPr>
          <p:cNvSpPr>
            <a:spLocks noGrp="1"/>
          </p:cNvSpPr>
          <p:nvPr>
            <p:ph type="title"/>
          </p:nvPr>
        </p:nvSpPr>
        <p:spPr>
          <a:xfrm>
            <a:off x="369155" y="466928"/>
            <a:ext cx="10759288" cy="397072"/>
          </a:xfrm>
        </p:spPr>
        <p:txBody>
          <a:bodyPr/>
          <a:lstStyle/>
          <a:p>
            <a:r>
              <a:rPr lang="en-US" sz="3000">
                <a:cs typeface="Arial"/>
              </a:rPr>
              <a:t>Qualitative study: acceptors and rejectors</a:t>
            </a:r>
            <a:endParaRPr lang="en-US" sz="3000"/>
          </a:p>
        </p:txBody>
      </p:sp>
      <p:sp>
        <p:nvSpPr>
          <p:cNvPr id="3" name="Slide Number Placeholder 2">
            <a:extLst>
              <a:ext uri="{FF2B5EF4-FFF2-40B4-BE49-F238E27FC236}">
                <a16:creationId xmlns:a16="http://schemas.microsoft.com/office/drawing/2014/main" id="{5D73951F-E4F1-45CF-B005-3E01155A1CBA}"/>
              </a:ext>
            </a:extLst>
          </p:cNvPr>
          <p:cNvSpPr>
            <a:spLocks noGrp="1"/>
          </p:cNvSpPr>
          <p:nvPr>
            <p:ph type="sldNum" sz="quarter" idx="33"/>
          </p:nvPr>
        </p:nvSpPr>
        <p:spPr/>
        <p:txBody>
          <a:bodyPr/>
          <a:lstStyle/>
          <a:p>
            <a:fld id="{19B51A1E-902D-48AF-9020-955120F399B6}" type="slidenum">
              <a:rPr lang="en-US" noProof="0" smtClean="0"/>
              <a:pPr/>
              <a:t>14</a:t>
            </a:fld>
            <a:endParaRPr lang="en-US" noProof="0"/>
          </a:p>
        </p:txBody>
      </p:sp>
      <p:sp>
        <p:nvSpPr>
          <p:cNvPr id="4" name="Text Placeholder 3">
            <a:extLst>
              <a:ext uri="{FF2B5EF4-FFF2-40B4-BE49-F238E27FC236}">
                <a16:creationId xmlns:a16="http://schemas.microsoft.com/office/drawing/2014/main" id="{F0FEE316-4980-4832-AFAA-CEC8FEA2F7B4}"/>
              </a:ext>
            </a:extLst>
          </p:cNvPr>
          <p:cNvSpPr>
            <a:spLocks noGrp="1"/>
          </p:cNvSpPr>
          <p:nvPr>
            <p:ph type="body" idx="1"/>
          </p:nvPr>
        </p:nvSpPr>
        <p:spPr/>
        <p:txBody>
          <a:bodyPr/>
          <a:lstStyle/>
          <a:p>
            <a:r>
              <a:rPr lang="en-US">
                <a:cs typeface="Times New Roman"/>
              </a:rPr>
              <a:t>  </a:t>
            </a:r>
            <a:r>
              <a:rPr lang="en-US" sz="3200" err="1">
                <a:cs typeface="Times New Roman"/>
              </a:rPr>
              <a:t>Pl</a:t>
            </a:r>
            <a:r>
              <a:rPr lang="en-US" sz="3200" err="1">
                <a:ea typeface="+mn-lt"/>
                <a:cs typeface="+mn-lt"/>
              </a:rPr>
              <a:t>é</a:t>
            </a:r>
            <a:r>
              <a:rPr lang="en-US" sz="3200" err="1">
                <a:cs typeface="Times New Roman"/>
              </a:rPr>
              <a:t>ntitude</a:t>
            </a:r>
            <a:endParaRPr lang="en-US" sz="3200"/>
          </a:p>
        </p:txBody>
      </p:sp>
      <p:sp>
        <p:nvSpPr>
          <p:cNvPr id="5" name="Text Placeholder 4">
            <a:extLst>
              <a:ext uri="{FF2B5EF4-FFF2-40B4-BE49-F238E27FC236}">
                <a16:creationId xmlns:a16="http://schemas.microsoft.com/office/drawing/2014/main" id="{A92452A7-26AF-4A81-AE3B-70CFA9924D1B}"/>
              </a:ext>
            </a:extLst>
          </p:cNvPr>
          <p:cNvSpPr>
            <a:spLocks noGrp="1"/>
          </p:cNvSpPr>
          <p:nvPr>
            <p:ph type="body" sz="quarter" idx="3"/>
          </p:nvPr>
        </p:nvSpPr>
        <p:spPr/>
        <p:txBody>
          <a:bodyPr/>
          <a:lstStyle/>
          <a:p>
            <a:r>
              <a:rPr lang="en-US">
                <a:cs typeface="Times New Roman"/>
              </a:rPr>
              <a:t>  </a:t>
            </a:r>
            <a:r>
              <a:rPr lang="en-US" sz="3200">
                <a:cs typeface="Times New Roman"/>
              </a:rPr>
              <a:t>Olay &amp; Ponds</a:t>
            </a:r>
            <a:endParaRPr lang="en-US" sz="3200"/>
          </a:p>
        </p:txBody>
      </p:sp>
      <p:sp>
        <p:nvSpPr>
          <p:cNvPr id="6" name="Content Placeholder 5">
            <a:extLst>
              <a:ext uri="{FF2B5EF4-FFF2-40B4-BE49-F238E27FC236}">
                <a16:creationId xmlns:a16="http://schemas.microsoft.com/office/drawing/2014/main" id="{AFDAB42E-4BD9-4A4F-825E-385F7964FE99}"/>
              </a:ext>
            </a:extLst>
          </p:cNvPr>
          <p:cNvSpPr>
            <a:spLocks noGrp="1"/>
          </p:cNvSpPr>
          <p:nvPr>
            <p:ph sz="half" idx="2"/>
          </p:nvPr>
        </p:nvSpPr>
        <p:spPr/>
        <p:txBody>
          <a:bodyPr vert="horz" lIns="0" tIns="0" rIns="0" bIns="0" rtlCol="0" anchor="t">
            <a:noAutofit/>
          </a:bodyPr>
          <a:lstStyle/>
          <a:p>
            <a:r>
              <a:rPr lang="en-US">
                <a:cs typeface="Times New Roman"/>
              </a:rPr>
              <a:t>Motivation for trial</a:t>
            </a:r>
          </a:p>
          <a:p>
            <a:pPr lvl="1"/>
            <a:r>
              <a:rPr lang="en-US" sz="1800">
                <a:cs typeface="Times New Roman"/>
              </a:rPr>
              <a:t>L'Oréal brand name</a:t>
            </a:r>
          </a:p>
          <a:p>
            <a:pPr lvl="1"/>
            <a:r>
              <a:rPr lang="en-US" sz="1800" err="1">
                <a:cs typeface="Times New Roman"/>
              </a:rPr>
              <a:t>Pl</a:t>
            </a:r>
            <a:r>
              <a:rPr lang="en-US" sz="1800" err="1">
                <a:ea typeface="+mn-lt"/>
                <a:cs typeface="+mn-lt"/>
              </a:rPr>
              <a:t>é</a:t>
            </a:r>
            <a:r>
              <a:rPr lang="en-US" sz="1800" err="1">
                <a:cs typeface="Times New Roman"/>
              </a:rPr>
              <a:t>ntitude</a:t>
            </a:r>
            <a:r>
              <a:rPr lang="en-US" sz="1800">
                <a:cs typeface="Times New Roman"/>
              </a:rPr>
              <a:t> as a name meant little to people</a:t>
            </a:r>
          </a:p>
          <a:p>
            <a:r>
              <a:rPr lang="en-US">
                <a:cs typeface="Times New Roman"/>
              </a:rPr>
              <a:t>Response to product formulas</a:t>
            </a:r>
          </a:p>
          <a:p>
            <a:pPr lvl="1"/>
            <a:r>
              <a:rPr lang="en-US" sz="1800">
                <a:cs typeface="Times New Roman"/>
              </a:rPr>
              <a:t>Young rejectors found it too heavy</a:t>
            </a:r>
          </a:p>
          <a:p>
            <a:r>
              <a:rPr lang="en-US">
                <a:cs typeface="Times New Roman"/>
              </a:rPr>
              <a:t>Perception of </a:t>
            </a:r>
            <a:r>
              <a:rPr lang="en-US" err="1">
                <a:cs typeface="Times New Roman"/>
              </a:rPr>
              <a:t>Pl</a:t>
            </a:r>
            <a:r>
              <a:rPr lang="en-US" err="1">
                <a:ea typeface="+mn-lt"/>
                <a:cs typeface="+mn-lt"/>
              </a:rPr>
              <a:t>é</a:t>
            </a:r>
            <a:r>
              <a:rPr lang="en-US" err="1">
                <a:cs typeface="Times New Roman"/>
              </a:rPr>
              <a:t>ntitude</a:t>
            </a:r>
            <a:r>
              <a:rPr lang="en-US">
                <a:cs typeface="Times New Roman"/>
              </a:rPr>
              <a:t> as a product line</a:t>
            </a:r>
          </a:p>
          <a:p>
            <a:pPr lvl="1"/>
            <a:r>
              <a:rPr lang="en-US" sz="1800">
                <a:cs typeface="Times New Roman"/>
              </a:rPr>
              <a:t>Large number of products</a:t>
            </a:r>
          </a:p>
          <a:p>
            <a:pPr lvl="1"/>
            <a:r>
              <a:rPr lang="en-US" sz="1800">
                <a:cs typeface="Times New Roman"/>
              </a:rPr>
              <a:t>Names for products could be more distinguishable</a:t>
            </a:r>
          </a:p>
          <a:p>
            <a:r>
              <a:rPr lang="en-US">
                <a:cs typeface="Times New Roman"/>
              </a:rPr>
              <a:t>Response to packaging</a:t>
            </a:r>
          </a:p>
          <a:p>
            <a:pPr lvl="1"/>
            <a:r>
              <a:rPr lang="en-US" sz="1800">
                <a:cs typeface="Times New Roman"/>
              </a:rPr>
              <a:t>Attractive but overworked</a:t>
            </a:r>
          </a:p>
          <a:p>
            <a:r>
              <a:rPr lang="en-US">
                <a:cs typeface="Times New Roman"/>
              </a:rPr>
              <a:t>Perceived target customer</a:t>
            </a:r>
          </a:p>
          <a:p>
            <a:pPr lvl="1"/>
            <a:r>
              <a:rPr lang="en-US" sz="1800">
                <a:cs typeface="Times New Roman"/>
              </a:rPr>
              <a:t>Targeted to older women</a:t>
            </a:r>
          </a:p>
          <a:p>
            <a:endParaRPr lang="en-US">
              <a:cs typeface="Times New Roman"/>
            </a:endParaRPr>
          </a:p>
          <a:p>
            <a:pPr lvl="1"/>
            <a:endParaRPr lang="en-US">
              <a:cs typeface="Times New Roman"/>
            </a:endParaRPr>
          </a:p>
        </p:txBody>
      </p:sp>
      <p:sp>
        <p:nvSpPr>
          <p:cNvPr id="7" name="Content Placeholder 6">
            <a:extLst>
              <a:ext uri="{FF2B5EF4-FFF2-40B4-BE49-F238E27FC236}">
                <a16:creationId xmlns:a16="http://schemas.microsoft.com/office/drawing/2014/main" id="{61F08F49-C1D1-499B-8F41-7860C3F3A6C6}"/>
              </a:ext>
            </a:extLst>
          </p:cNvPr>
          <p:cNvSpPr>
            <a:spLocks noGrp="1"/>
          </p:cNvSpPr>
          <p:nvPr>
            <p:ph sz="quarter" idx="4"/>
          </p:nvPr>
        </p:nvSpPr>
        <p:spPr/>
        <p:txBody>
          <a:bodyPr vert="horz" lIns="0" tIns="0" rIns="0" bIns="0" rtlCol="0" anchor="t">
            <a:noAutofit/>
          </a:bodyPr>
          <a:lstStyle/>
          <a:p>
            <a:r>
              <a:rPr lang="en-US">
                <a:ea typeface="+mn-lt"/>
                <a:cs typeface="+mn-lt"/>
              </a:rPr>
              <a:t>Motivation for trial</a:t>
            </a:r>
          </a:p>
          <a:p>
            <a:pPr lvl="1"/>
            <a:r>
              <a:rPr lang="en-US" sz="1800">
                <a:ea typeface="+mn-lt"/>
                <a:cs typeface="+mn-lt"/>
              </a:rPr>
              <a:t>Olay had many mechanisms</a:t>
            </a:r>
          </a:p>
          <a:p>
            <a:pPr lvl="1"/>
            <a:r>
              <a:rPr lang="en-US" sz="1800">
                <a:ea typeface="+mn-lt"/>
                <a:cs typeface="+mn-lt"/>
              </a:rPr>
              <a:t>Ponds was a life staple</a:t>
            </a:r>
          </a:p>
          <a:p>
            <a:r>
              <a:rPr lang="en-US">
                <a:ea typeface="+mn-lt"/>
                <a:cs typeface="+mn-lt"/>
              </a:rPr>
              <a:t>Product Satisfaction Sources</a:t>
            </a:r>
          </a:p>
          <a:p>
            <a:pPr lvl="1"/>
            <a:r>
              <a:rPr lang="en-US" sz="1800">
                <a:ea typeface="+mn-lt"/>
                <a:cs typeface="+mn-lt"/>
              </a:rPr>
              <a:t>Olay is light and reasonably priced</a:t>
            </a:r>
          </a:p>
          <a:p>
            <a:pPr lvl="1"/>
            <a:r>
              <a:rPr lang="en-US" sz="1800">
                <a:ea typeface="+mn-lt"/>
                <a:cs typeface="+mn-lt"/>
              </a:rPr>
              <a:t>Ponds is reliable, accessible, reasonably priced</a:t>
            </a:r>
          </a:p>
          <a:p>
            <a:r>
              <a:rPr lang="en-US">
                <a:ea typeface="+mn-lt"/>
                <a:cs typeface="+mn-lt"/>
              </a:rPr>
              <a:t>Brand Imagery</a:t>
            </a:r>
          </a:p>
          <a:p>
            <a:pPr lvl="1"/>
            <a:r>
              <a:rPr lang="en-US" sz="1800">
                <a:ea typeface="+mn-lt"/>
                <a:cs typeface="+mn-lt"/>
              </a:rPr>
              <a:t>Olay is traditional and generational</a:t>
            </a:r>
          </a:p>
          <a:p>
            <a:pPr lvl="1"/>
            <a:r>
              <a:rPr lang="en-US" sz="1800">
                <a:ea typeface="+mn-lt"/>
                <a:cs typeface="+mn-lt"/>
              </a:rPr>
              <a:t>Ponds is older, down to earth</a:t>
            </a:r>
          </a:p>
          <a:p>
            <a:r>
              <a:rPr lang="en-US">
                <a:ea typeface="+mn-lt"/>
                <a:cs typeface="+mn-lt"/>
              </a:rPr>
              <a:t>Perceptions of </a:t>
            </a:r>
            <a:r>
              <a:rPr lang="en-US" err="1">
                <a:ea typeface="+mn-lt"/>
                <a:cs typeface="+mn-lt"/>
              </a:rPr>
              <a:t>Pléntitude</a:t>
            </a:r>
            <a:r>
              <a:rPr lang="en-US">
                <a:ea typeface="+mn-lt"/>
                <a:cs typeface="+mn-lt"/>
              </a:rPr>
              <a:t> packaging</a:t>
            </a:r>
          </a:p>
          <a:p>
            <a:pPr lvl="1"/>
            <a:r>
              <a:rPr lang="en-US" sz="1800">
                <a:ea typeface="+mn-lt"/>
                <a:cs typeface="+mn-lt"/>
              </a:rPr>
              <a:t>Overwhelming</a:t>
            </a:r>
          </a:p>
          <a:p>
            <a:pPr marL="0" indent="0">
              <a:buNone/>
            </a:pPr>
            <a:endParaRPr lang="en-US">
              <a:cs typeface="Times New Roman"/>
            </a:endParaRPr>
          </a:p>
        </p:txBody>
      </p:sp>
      <p:pic>
        <p:nvPicPr>
          <p:cNvPr id="10" name="Picture 9" descr="A close up of a person&#10;&#10;Description automatically generated">
            <a:extLst>
              <a:ext uri="{FF2B5EF4-FFF2-40B4-BE49-F238E27FC236}">
                <a16:creationId xmlns:a16="http://schemas.microsoft.com/office/drawing/2014/main" id="{152FC0B6-02D9-463D-9740-9199C6F0AB2A}"/>
              </a:ext>
            </a:extLst>
          </p:cNvPr>
          <p:cNvPicPr>
            <a:picLocks noChangeAspect="1"/>
          </p:cNvPicPr>
          <p:nvPr/>
        </p:nvPicPr>
        <p:blipFill rotWithShape="1">
          <a:blip r:embed="rId3">
            <a:extLst>
              <a:ext uri="{28A0092B-C50C-407E-A947-70E740481C1C}">
                <a14:useLocalDpi xmlns:a14="http://schemas.microsoft.com/office/drawing/2010/main" val="0"/>
              </a:ext>
            </a:extLst>
          </a:blip>
          <a:srcRect b="4940"/>
          <a:stretch/>
        </p:blipFill>
        <p:spPr>
          <a:xfrm>
            <a:off x="9973320" y="0"/>
            <a:ext cx="2218680" cy="6189664"/>
          </a:xfrm>
          <a:prstGeom prst="rect">
            <a:avLst/>
          </a:prstGeom>
        </p:spPr>
      </p:pic>
    </p:spTree>
    <p:extLst>
      <p:ext uri="{BB962C8B-B14F-4D97-AF65-F5344CB8AC3E}">
        <p14:creationId xmlns:p14="http://schemas.microsoft.com/office/powerpoint/2010/main" val="3176547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067F-DFB9-4A0C-B7DC-E2AB1164B450}"/>
              </a:ext>
            </a:extLst>
          </p:cNvPr>
          <p:cNvSpPr>
            <a:spLocks noGrp="1"/>
          </p:cNvSpPr>
          <p:nvPr>
            <p:ph type="title"/>
          </p:nvPr>
        </p:nvSpPr>
        <p:spPr>
          <a:xfrm>
            <a:off x="432000" y="432000"/>
            <a:ext cx="9198000" cy="432000"/>
          </a:xfrm>
          <a:prstGeom prst="rect">
            <a:avLst/>
          </a:prstGeom>
        </p:spPr>
        <p:txBody>
          <a:bodyPr anchor="ctr">
            <a:normAutofit/>
          </a:bodyPr>
          <a:lstStyle/>
          <a:p>
            <a:r>
              <a:rPr lang="en-US" sz="3000" err="1"/>
              <a:t>Plénitude</a:t>
            </a:r>
            <a:r>
              <a:rPr lang="en-US" sz="3000"/>
              <a:t> self-shopping study</a:t>
            </a:r>
          </a:p>
        </p:txBody>
      </p:sp>
      <p:sp>
        <p:nvSpPr>
          <p:cNvPr id="3" name="Slide Number Placeholder 2">
            <a:extLst>
              <a:ext uri="{FF2B5EF4-FFF2-40B4-BE49-F238E27FC236}">
                <a16:creationId xmlns:a16="http://schemas.microsoft.com/office/drawing/2014/main" id="{6601F553-419D-48AC-BCD4-797A1F036AA4}"/>
              </a:ext>
            </a:extLst>
          </p:cNvPr>
          <p:cNvSpPr>
            <a:spLocks noGrp="1"/>
          </p:cNvSpPr>
          <p:nvPr>
            <p:ph type="sldNum" sz="quarter" idx="33"/>
          </p:nvPr>
        </p:nvSpPr>
        <p:spPr>
          <a:xfrm>
            <a:off x="11447502" y="6401750"/>
            <a:ext cx="278418" cy="274324"/>
          </a:xfrm>
          <a:prstGeom prst="rect">
            <a:avLst/>
          </a:prstGeom>
        </p:spPr>
        <p:txBody>
          <a:bodyPr anchor="ctr">
            <a:normAutofit/>
          </a:bodyPr>
          <a:lstStyle/>
          <a:p>
            <a:pPr>
              <a:spcAft>
                <a:spcPts val="600"/>
              </a:spcAft>
            </a:pPr>
            <a:fld id="{19B51A1E-902D-48AF-9020-955120F399B6}" type="slidenum">
              <a:rPr lang="en-US" noProof="0" smtClean="0"/>
              <a:pPr>
                <a:spcAft>
                  <a:spcPts val="600"/>
                </a:spcAft>
              </a:pPr>
              <a:t>15</a:t>
            </a:fld>
            <a:endParaRPr lang="en-US" noProof="0"/>
          </a:p>
        </p:txBody>
      </p:sp>
      <p:sp>
        <p:nvSpPr>
          <p:cNvPr id="6" name="Content Placeholder 5">
            <a:extLst>
              <a:ext uri="{FF2B5EF4-FFF2-40B4-BE49-F238E27FC236}">
                <a16:creationId xmlns:a16="http://schemas.microsoft.com/office/drawing/2014/main" id="{9829AA84-A344-4770-B2CB-1D5242FCACC0}"/>
              </a:ext>
            </a:extLst>
          </p:cNvPr>
          <p:cNvSpPr>
            <a:spLocks noGrp="1"/>
          </p:cNvSpPr>
          <p:nvPr>
            <p:ph idx="1"/>
          </p:nvPr>
        </p:nvSpPr>
        <p:spPr>
          <a:xfrm>
            <a:off x="432000" y="1207361"/>
            <a:ext cx="5195627" cy="4541117"/>
          </a:xfrm>
          <a:prstGeom prst="rect">
            <a:avLst/>
          </a:prstGeom>
          <a:solidFill>
            <a:schemeClr val="bg1"/>
          </a:solidFill>
        </p:spPr>
        <p:txBody>
          <a:bodyPr vert="horz" lIns="182880" tIns="182880" rIns="182880" bIns="91440" rtlCol="0" anchor="t">
            <a:normAutofit/>
          </a:bodyPr>
          <a:lstStyle/>
          <a:p>
            <a:pPr marL="0" indent="0">
              <a:buNone/>
            </a:pPr>
            <a:r>
              <a:rPr lang="en-US" sz="2000"/>
              <a:t>Overall category and shopping experience</a:t>
            </a:r>
            <a:endParaRPr lang="en-US" sz="2000">
              <a:cs typeface="Times New Roman"/>
            </a:endParaRPr>
          </a:p>
          <a:p>
            <a:pPr lvl="1"/>
            <a:r>
              <a:rPr lang="en-US" sz="2000"/>
              <a:t>It is fun to see what is new</a:t>
            </a:r>
            <a:endParaRPr lang="en-US" sz="2000">
              <a:cs typeface="Times New Roman"/>
            </a:endParaRPr>
          </a:p>
          <a:p>
            <a:pPr lvl="1"/>
            <a:r>
              <a:rPr lang="en-US" sz="2000"/>
              <a:t>Overwhelmed by all of the options</a:t>
            </a:r>
            <a:endParaRPr lang="en-US" sz="2000">
              <a:cs typeface="Times New Roman"/>
            </a:endParaRPr>
          </a:p>
          <a:p>
            <a:pPr marL="0" indent="0">
              <a:buNone/>
            </a:pPr>
            <a:r>
              <a:rPr lang="en-US" sz="2000">
                <a:cs typeface="Times New Roman"/>
              </a:rPr>
              <a:t>Brand images of major competitors</a:t>
            </a:r>
          </a:p>
          <a:p>
            <a:pPr lvl="1"/>
            <a:r>
              <a:rPr lang="en-US" sz="2000">
                <a:cs typeface="Times New Roman"/>
              </a:rPr>
              <a:t>Oil of Olay and Ponds are for older women</a:t>
            </a:r>
          </a:p>
          <a:p>
            <a:pPr lvl="1"/>
            <a:r>
              <a:rPr lang="en-US" sz="2000">
                <a:ea typeface="+mn-lt"/>
                <a:cs typeface="+mn-lt"/>
              </a:rPr>
              <a:t>L'Or</a:t>
            </a:r>
            <a:r>
              <a:rPr lang="en-US" sz="2000">
                <a:cs typeface="Times New Roman"/>
              </a:rPr>
              <a:t>é</a:t>
            </a:r>
            <a:r>
              <a:rPr lang="en-US" sz="2000">
                <a:ea typeface="+mn-lt"/>
                <a:cs typeface="+mn-lt"/>
              </a:rPr>
              <a:t>al</a:t>
            </a:r>
            <a:r>
              <a:rPr lang="en-US" sz="2000">
                <a:cs typeface="Times New Roman"/>
              </a:rPr>
              <a:t> (</a:t>
            </a:r>
            <a:r>
              <a:rPr lang="en-US" sz="2000" err="1">
                <a:cs typeface="Times New Roman"/>
              </a:rPr>
              <a:t>Pl</a:t>
            </a:r>
            <a:r>
              <a:rPr lang="en-US" sz="2000" err="1">
                <a:ea typeface="+mn-lt"/>
                <a:cs typeface="+mn-lt"/>
              </a:rPr>
              <a:t>é</a:t>
            </a:r>
            <a:r>
              <a:rPr lang="en-US" sz="2000" err="1">
                <a:cs typeface="Times New Roman"/>
              </a:rPr>
              <a:t>ntitude</a:t>
            </a:r>
            <a:r>
              <a:rPr lang="en-US" sz="2000">
                <a:cs typeface="Times New Roman"/>
              </a:rPr>
              <a:t>) is a step up but expensive because it is French</a:t>
            </a:r>
          </a:p>
          <a:p>
            <a:pPr marL="0" indent="0">
              <a:buNone/>
            </a:pPr>
            <a:r>
              <a:rPr lang="en-US" sz="2000">
                <a:cs typeface="Times New Roman"/>
              </a:rPr>
              <a:t>L'Or</a:t>
            </a:r>
            <a:r>
              <a:rPr lang="en-US" sz="2000">
                <a:ea typeface="+mn-lt"/>
                <a:cs typeface="+mn-lt"/>
              </a:rPr>
              <a:t>é</a:t>
            </a:r>
            <a:r>
              <a:rPr lang="en-US" sz="2000">
                <a:cs typeface="Times New Roman"/>
              </a:rPr>
              <a:t>al product line presentation</a:t>
            </a:r>
          </a:p>
          <a:p>
            <a:pPr lvl="1"/>
            <a:r>
              <a:rPr lang="en-US" sz="2000">
                <a:cs typeface="Times New Roman"/>
              </a:rPr>
              <a:t>The packaging is chaotic and wordy</a:t>
            </a:r>
          </a:p>
          <a:p>
            <a:pPr lvl="1"/>
            <a:r>
              <a:rPr lang="en-US" sz="2000">
                <a:cs typeface="Times New Roman"/>
              </a:rPr>
              <a:t>The product looks complicated</a:t>
            </a:r>
          </a:p>
          <a:p>
            <a:pPr lvl="1"/>
            <a:r>
              <a:rPr lang="en-US" sz="2000">
                <a:cs typeface="Times New Roman"/>
              </a:rPr>
              <a:t>Some people liked all the information featured on the front of the box</a:t>
            </a:r>
          </a:p>
        </p:txBody>
      </p:sp>
      <p:pic>
        <p:nvPicPr>
          <p:cNvPr id="4" name="Picture 4" descr="A picture containing indoor, sitting, counter, table&#10;&#10;Description generated with very high confidence">
            <a:extLst>
              <a:ext uri="{FF2B5EF4-FFF2-40B4-BE49-F238E27FC236}">
                <a16:creationId xmlns:a16="http://schemas.microsoft.com/office/drawing/2014/main" id="{D5311B87-5338-4D11-A79F-1D91230A41E0}"/>
              </a:ext>
            </a:extLst>
          </p:cNvPr>
          <p:cNvPicPr>
            <a:picLocks noChangeAspect="1"/>
          </p:cNvPicPr>
          <p:nvPr/>
        </p:nvPicPr>
        <p:blipFill>
          <a:blip r:embed="rId2"/>
          <a:stretch>
            <a:fillRect/>
          </a:stretch>
        </p:blipFill>
        <p:spPr>
          <a:xfrm>
            <a:off x="5615188" y="1208786"/>
            <a:ext cx="5630214" cy="4537020"/>
          </a:xfrm>
          <a:prstGeom prst="rect">
            <a:avLst/>
          </a:prstGeom>
        </p:spPr>
      </p:pic>
    </p:spTree>
    <p:extLst>
      <p:ext uri="{BB962C8B-B14F-4D97-AF65-F5344CB8AC3E}">
        <p14:creationId xmlns:p14="http://schemas.microsoft.com/office/powerpoint/2010/main" val="1607952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D3F42500-2D0A-495C-967D-62196A317ECA}"/>
              </a:ext>
            </a:extLst>
          </p:cNvPr>
          <p:cNvPicPr>
            <a:picLocks noChangeAspect="1"/>
          </p:cNvPicPr>
          <p:nvPr/>
        </p:nvPicPr>
        <p:blipFill rotWithShape="1">
          <a:blip r:embed="rId3">
            <a:extLst>
              <a:ext uri="{28A0092B-C50C-407E-A947-70E740481C1C}">
                <a14:useLocalDpi xmlns:a14="http://schemas.microsoft.com/office/drawing/2010/main" val="0"/>
              </a:ext>
            </a:extLst>
          </a:blip>
          <a:srcRect b="5541"/>
          <a:stretch/>
        </p:blipFill>
        <p:spPr>
          <a:xfrm>
            <a:off x="9965992" y="0"/>
            <a:ext cx="2226008" cy="6176964"/>
          </a:xfrm>
          <a:prstGeom prst="rect">
            <a:avLst/>
          </a:prstGeom>
        </p:spPr>
      </p:pic>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455639" y="486602"/>
            <a:ext cx="8381496" cy="388868"/>
          </a:xfrm>
        </p:spPr>
        <p:txBody>
          <a:bodyPr/>
          <a:lstStyle/>
          <a:p>
            <a:pPr algn="l"/>
            <a:r>
              <a:rPr lang="en-US">
                <a:cs typeface="Arial"/>
              </a:rPr>
              <a:t>Perceptions of the </a:t>
            </a:r>
            <a:r>
              <a:rPr lang="en-US" err="1">
                <a:cs typeface="Arial"/>
              </a:rPr>
              <a:t>plénitude</a:t>
            </a:r>
            <a:r>
              <a:rPr lang="en-US">
                <a:cs typeface="Arial"/>
              </a:rPr>
              <a:t> brand</a:t>
            </a:r>
            <a:endParaRPr lang="en-US"/>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55639" y="1151906"/>
            <a:ext cx="8381496" cy="5025058"/>
          </a:xfrm>
        </p:spPr>
        <p:txBody>
          <a:bodyPr vert="horz" lIns="180000" tIns="252000" rIns="252000" bIns="0" rtlCol="0" anchor="t">
            <a:noAutofit/>
          </a:bodyPr>
          <a:lstStyle/>
          <a:p>
            <a:pPr marL="0" indent="0">
              <a:buNone/>
            </a:pPr>
            <a:r>
              <a:rPr lang="en-US" sz="3200">
                <a:cs typeface="Times New Roman"/>
              </a:rPr>
              <a:t>Facial Skin Care Market Study</a:t>
            </a:r>
            <a:r>
              <a:rPr lang="en-US" sz="3200">
                <a:ea typeface="+mn-lt"/>
                <a:cs typeface="+mn-lt"/>
              </a:rPr>
              <a:t> </a:t>
            </a:r>
          </a:p>
          <a:p>
            <a:pPr lvl="1"/>
            <a:r>
              <a:rPr lang="en-US" sz="2000">
                <a:cs typeface="Times New Roman"/>
              </a:rPr>
              <a:t>Brand Imagery Perceptual Map (Exhibit 9) and Brand User Imagery Perceptual Map (Exhibit 10)</a:t>
            </a:r>
          </a:p>
          <a:p>
            <a:pPr lvl="2"/>
            <a:r>
              <a:rPr lang="en-US" sz="2000" err="1">
                <a:cs typeface="Times New Roman"/>
              </a:rPr>
              <a:t>L'Oreal</a:t>
            </a:r>
            <a:r>
              <a:rPr lang="en-US" sz="2000">
                <a:cs typeface="Times New Roman"/>
              </a:rPr>
              <a:t> Plenitude, Este Lauder, Clinique, Nivea Visage, Alpha </a:t>
            </a:r>
            <a:r>
              <a:rPr lang="en-US" sz="2000" err="1">
                <a:cs typeface="Times New Roman"/>
              </a:rPr>
              <a:t>Hydrox</a:t>
            </a:r>
            <a:r>
              <a:rPr lang="en-US" sz="2000">
                <a:cs typeface="Times New Roman"/>
              </a:rPr>
              <a:t>, Oil of Olay, Avon, and Ponds</a:t>
            </a:r>
          </a:p>
          <a:p>
            <a:pPr lvl="2"/>
            <a:r>
              <a:rPr lang="en-US" sz="2000">
                <a:cs typeface="Times New Roman"/>
              </a:rPr>
              <a:t>In most people's minds, Plenitude is:</a:t>
            </a:r>
          </a:p>
          <a:p>
            <a:pPr lvl="3"/>
            <a:r>
              <a:rPr lang="en-US" sz="2000">
                <a:cs typeface="Times New Roman"/>
              </a:rPr>
              <a:t>Technologically advanced</a:t>
            </a:r>
          </a:p>
          <a:p>
            <a:pPr lvl="3"/>
            <a:r>
              <a:rPr lang="en-US" sz="2000">
                <a:cs typeface="Times New Roman"/>
              </a:rPr>
              <a:t>Exfoliates the skin</a:t>
            </a:r>
          </a:p>
          <a:p>
            <a:pPr lvl="3"/>
            <a:r>
              <a:rPr lang="en-US" sz="2000">
                <a:cs typeface="Times New Roman"/>
              </a:rPr>
              <a:t>Contains AHA</a:t>
            </a:r>
          </a:p>
          <a:p>
            <a:pPr lvl="3"/>
            <a:r>
              <a:rPr lang="en-US" sz="2000">
                <a:cs typeface="Times New Roman"/>
              </a:rPr>
              <a:t>For people who like to spend money on themselves</a:t>
            </a:r>
          </a:p>
          <a:p>
            <a:pPr lvl="3"/>
            <a:r>
              <a:rPr lang="en-US" sz="2000">
                <a:cs typeface="Times New Roman"/>
              </a:rPr>
              <a:t>For stylish people</a:t>
            </a:r>
          </a:p>
          <a:p>
            <a:pPr lvl="3"/>
            <a:r>
              <a:rPr lang="en-US" sz="2000">
                <a:cs typeface="Times New Roman"/>
              </a:rPr>
              <a:t>For the upper class</a:t>
            </a:r>
          </a:p>
          <a:p>
            <a:pPr lvl="3"/>
            <a:r>
              <a:rPr lang="en-US" sz="2000">
                <a:cs typeface="Times New Roman"/>
              </a:rPr>
              <a:t>For aged people - "in their 40's" and "in their 60's"</a:t>
            </a:r>
            <a:endParaRPr lang="en-US" sz="2800">
              <a:ea typeface="+mn-lt"/>
              <a:cs typeface="+mn-lt"/>
            </a:endParaRPr>
          </a:p>
          <a:p>
            <a:pPr>
              <a:buNone/>
            </a:pPr>
            <a:endParaRPr lang="en-US" sz="2800">
              <a:cs typeface="Times New Roman"/>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16</a:t>
            </a:fld>
            <a:endParaRPr lang="en-US"/>
          </a:p>
        </p:txBody>
      </p:sp>
    </p:spTree>
    <p:extLst>
      <p:ext uri="{BB962C8B-B14F-4D97-AF65-F5344CB8AC3E}">
        <p14:creationId xmlns:p14="http://schemas.microsoft.com/office/powerpoint/2010/main" val="3078811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 up of a person wearing glasses and looking at the camera&#10;&#10;Description automatically generated">
            <a:extLst>
              <a:ext uri="{FF2B5EF4-FFF2-40B4-BE49-F238E27FC236}">
                <a16:creationId xmlns:a16="http://schemas.microsoft.com/office/drawing/2014/main" id="{197729BF-D248-4AA1-8A70-434047A421A3}"/>
              </a:ext>
            </a:extLst>
          </p:cNvPr>
          <p:cNvPicPr>
            <a:picLocks noChangeAspect="1"/>
          </p:cNvPicPr>
          <p:nvPr/>
        </p:nvPicPr>
        <p:blipFill rotWithShape="1">
          <a:blip r:embed="rId3">
            <a:extLst>
              <a:ext uri="{28A0092B-C50C-407E-A947-70E740481C1C}">
                <a14:useLocalDpi xmlns:a14="http://schemas.microsoft.com/office/drawing/2010/main" val="0"/>
              </a:ext>
            </a:extLst>
          </a:blip>
          <a:srcRect b="5136"/>
          <a:stretch/>
        </p:blipFill>
        <p:spPr>
          <a:xfrm>
            <a:off x="9973320" y="0"/>
            <a:ext cx="2218680" cy="6176964"/>
          </a:xfrm>
          <a:prstGeom prst="rect">
            <a:avLst/>
          </a:prstGeom>
        </p:spPr>
      </p:pic>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55639" y="1172295"/>
            <a:ext cx="4053349" cy="5004669"/>
          </a:xfrm>
        </p:spPr>
        <p:txBody>
          <a:bodyPr vert="horz" lIns="180000" tIns="252000" rIns="252000" bIns="0" rtlCol="0" anchor="t">
            <a:noAutofit/>
          </a:bodyPr>
          <a:lstStyle/>
          <a:p>
            <a:pPr marL="0" indent="0">
              <a:buNone/>
            </a:pPr>
            <a:r>
              <a:rPr lang="en-US" sz="2800">
                <a:ea typeface="+mn-lt"/>
                <a:cs typeface="+mn-lt"/>
              </a:rPr>
              <a:t>54% of current users fall into these segments </a:t>
            </a:r>
          </a:p>
          <a:p>
            <a:pPr>
              <a:buFont typeface="Arial"/>
              <a:buChar char="•"/>
            </a:pPr>
            <a:r>
              <a:rPr lang="en-US">
                <a:ea typeface="+mn-lt"/>
                <a:cs typeface="+mn-lt"/>
              </a:rPr>
              <a:t>"Stressed Out"</a:t>
            </a:r>
          </a:p>
          <a:p>
            <a:pPr lvl="1">
              <a:buFont typeface="Arial"/>
              <a:buChar char="•"/>
            </a:pPr>
            <a:r>
              <a:rPr lang="en-US" sz="1800">
                <a:ea typeface="+mn-lt"/>
                <a:cs typeface="+mn-lt"/>
              </a:rPr>
              <a:t>Not concerned with price</a:t>
            </a:r>
          </a:p>
          <a:p>
            <a:pPr lvl="1">
              <a:buFont typeface="Arial"/>
              <a:buChar char="•"/>
            </a:pPr>
            <a:r>
              <a:rPr lang="en-US" sz="1800">
                <a:ea typeface="+mn-lt"/>
                <a:cs typeface="+mn-lt"/>
              </a:rPr>
              <a:t>Want effective product that reduces signs of aging</a:t>
            </a:r>
          </a:p>
          <a:p>
            <a:pPr>
              <a:buFont typeface="Arial"/>
              <a:buChar char="•"/>
            </a:pPr>
            <a:r>
              <a:rPr lang="en-US">
                <a:ea typeface="+mn-lt"/>
                <a:cs typeface="+mn-lt"/>
              </a:rPr>
              <a:t>"Age-Focused"</a:t>
            </a:r>
          </a:p>
          <a:p>
            <a:pPr lvl="1">
              <a:buFont typeface="Arial"/>
              <a:buChar char="•"/>
            </a:pPr>
            <a:r>
              <a:rPr lang="en-US" sz="1800">
                <a:ea typeface="+mn-lt"/>
                <a:cs typeface="+mn-lt"/>
              </a:rPr>
              <a:t>Pay more attention to price and natural ingredients</a:t>
            </a:r>
          </a:p>
          <a:p>
            <a:pPr>
              <a:buFont typeface="Arial"/>
              <a:buChar char="•"/>
            </a:pPr>
            <a:r>
              <a:rPr lang="en-US">
                <a:ea typeface="+mn-lt"/>
                <a:cs typeface="+mn-lt"/>
              </a:rPr>
              <a:t>“Modern executive woman who is up-to-date and assertive“</a:t>
            </a:r>
          </a:p>
          <a:p>
            <a:pPr>
              <a:buFont typeface="Arial"/>
              <a:buChar char="•"/>
            </a:pPr>
            <a:r>
              <a:rPr lang="en-US">
                <a:ea typeface="+mn-lt"/>
                <a:cs typeface="+mn-lt"/>
              </a:rPr>
              <a:t>Opportunity with younger segment</a:t>
            </a:r>
          </a:p>
          <a:p>
            <a:pPr lvl="1">
              <a:buFont typeface="Arial"/>
              <a:buChar char="•"/>
            </a:pPr>
            <a:r>
              <a:rPr lang="en-US" sz="1800">
                <a:ea typeface="+mn-lt"/>
                <a:cs typeface="+mn-lt"/>
              </a:rPr>
              <a:t>More price sensitive</a:t>
            </a:r>
          </a:p>
          <a:p>
            <a:pPr lvl="1">
              <a:buFont typeface="Arial"/>
              <a:buChar char="•"/>
            </a:pPr>
            <a:r>
              <a:rPr lang="en-US" sz="1800">
                <a:ea typeface="+mn-lt"/>
                <a:cs typeface="+mn-lt"/>
              </a:rPr>
              <a:t>Appreciative of simplicity</a:t>
            </a:r>
          </a:p>
          <a:p>
            <a:pPr>
              <a:buNone/>
            </a:pPr>
            <a:endParaRPr lang="en-US" sz="2800">
              <a:cs typeface="Times New Roman"/>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17</a:t>
            </a:fld>
            <a:endParaRPr lang="en-US"/>
          </a:p>
        </p:txBody>
      </p:sp>
      <p:sp>
        <p:nvSpPr>
          <p:cNvPr id="12" name="Title 1">
            <a:extLst>
              <a:ext uri="{FF2B5EF4-FFF2-40B4-BE49-F238E27FC236}">
                <a16:creationId xmlns:a16="http://schemas.microsoft.com/office/drawing/2014/main" id="{CE4392EF-61EF-473E-85AC-FB5588769130}"/>
              </a:ext>
            </a:extLst>
          </p:cNvPr>
          <p:cNvSpPr>
            <a:spLocks noGrp="1"/>
          </p:cNvSpPr>
          <p:nvPr>
            <p:ph type="title"/>
          </p:nvPr>
        </p:nvSpPr>
        <p:spPr>
          <a:xfrm>
            <a:off x="455639" y="486602"/>
            <a:ext cx="8381496" cy="388868"/>
          </a:xfrm>
        </p:spPr>
        <p:txBody>
          <a:bodyPr/>
          <a:lstStyle/>
          <a:p>
            <a:pPr algn="l"/>
            <a:r>
              <a:rPr lang="en-US">
                <a:cs typeface="Arial"/>
              </a:rPr>
              <a:t>Segmenting</a:t>
            </a:r>
            <a:endParaRPr lang="en-US"/>
          </a:p>
        </p:txBody>
      </p:sp>
      <p:graphicFrame>
        <p:nvGraphicFramePr>
          <p:cNvPr id="7" name="Chart 6">
            <a:extLst>
              <a:ext uri="{FF2B5EF4-FFF2-40B4-BE49-F238E27FC236}">
                <a16:creationId xmlns:a16="http://schemas.microsoft.com/office/drawing/2014/main" id="{B8C8DA9C-7E7A-4C97-8ECB-8C4328E1F9D9}"/>
              </a:ext>
            </a:extLst>
          </p:cNvPr>
          <p:cNvGraphicFramePr/>
          <p:nvPr>
            <p:extLst>
              <p:ext uri="{D42A27DB-BD31-4B8C-83A1-F6EECF244321}">
                <p14:modId xmlns:p14="http://schemas.microsoft.com/office/powerpoint/2010/main" val="2778713989"/>
              </p:ext>
            </p:extLst>
          </p:nvPr>
        </p:nvGraphicFramePr>
        <p:xfrm>
          <a:off x="4508989" y="1172295"/>
          <a:ext cx="5180052" cy="50046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12492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a:t>The </a:t>
            </a:r>
            <a:br>
              <a:rPr lang="en-US"/>
            </a:br>
            <a:r>
              <a:rPr lang="en-US" err="1"/>
              <a:t>Plénitude</a:t>
            </a:r>
            <a:r>
              <a:rPr lang="en-US"/>
              <a:t> Plan</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a:lstStyle/>
          <a:p>
            <a:r>
              <a:rPr lang="en-US"/>
              <a:t>Our recommendations and plans to implement.</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1"/>
          </p:nvPr>
        </p:nvSpPr>
        <p:spPr/>
        <p:txBody>
          <a:bodyPr/>
          <a:lstStyle/>
          <a:p>
            <a:fld id="{19B51A1E-902D-48AF-9020-955120F399B6}" type="slidenum">
              <a:rPr lang="en-US" smtClean="0"/>
              <a:pPr/>
              <a:t>18</a:t>
            </a:fld>
            <a:endParaRPr lang="en-US"/>
          </a:p>
        </p:txBody>
      </p:sp>
    </p:spTree>
    <p:extLst>
      <p:ext uri="{BB962C8B-B14F-4D97-AF65-F5344CB8AC3E}">
        <p14:creationId xmlns:p14="http://schemas.microsoft.com/office/powerpoint/2010/main" val="355912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close up of a girl looking at the camera&#10;&#10;Description generated with high confidence">
            <a:extLst>
              <a:ext uri="{FF2B5EF4-FFF2-40B4-BE49-F238E27FC236}">
                <a16:creationId xmlns:a16="http://schemas.microsoft.com/office/drawing/2014/main" id="{9ED6523A-2629-4516-B87C-840A7EA56CE4}"/>
              </a:ext>
            </a:extLst>
          </p:cNvPr>
          <p:cNvPicPr>
            <a:picLocks noGrp="1" noChangeAspect="1"/>
          </p:cNvPicPr>
          <p:nvPr>
            <p:ph type="pic" sz="quarter" idx="33"/>
          </p:nvPr>
        </p:nvPicPr>
        <p:blipFill rotWithShape="1">
          <a:blip r:embed="rId3"/>
          <a:srcRect t="2301" b="2301"/>
          <a:stretch/>
        </p:blipFill>
        <p:spPr/>
      </p:pic>
      <p:sp>
        <p:nvSpPr>
          <p:cNvPr id="3" name="Title 2">
            <a:extLst>
              <a:ext uri="{FF2B5EF4-FFF2-40B4-BE49-F238E27FC236}">
                <a16:creationId xmlns:a16="http://schemas.microsoft.com/office/drawing/2014/main" id="{01C4720A-A22A-40BB-9E32-E50E06DBF2CA}"/>
              </a:ext>
            </a:extLst>
          </p:cNvPr>
          <p:cNvSpPr>
            <a:spLocks noGrp="1"/>
          </p:cNvSpPr>
          <p:nvPr>
            <p:ph type="title"/>
          </p:nvPr>
        </p:nvSpPr>
        <p:spPr/>
        <p:txBody>
          <a:bodyPr/>
          <a:lstStyle/>
          <a:p>
            <a:r>
              <a:rPr lang="en-US">
                <a:cs typeface="Arial"/>
              </a:rPr>
              <a:t>Our Recommendations</a:t>
            </a:r>
            <a:endParaRPr lang="en-US"/>
          </a:p>
        </p:txBody>
      </p:sp>
      <p:sp>
        <p:nvSpPr>
          <p:cNvPr id="4" name="Text Placeholder 3">
            <a:extLst>
              <a:ext uri="{FF2B5EF4-FFF2-40B4-BE49-F238E27FC236}">
                <a16:creationId xmlns:a16="http://schemas.microsoft.com/office/drawing/2014/main" id="{AFE68D57-7CD5-4A3B-8986-86D055B170BA}"/>
              </a:ext>
            </a:extLst>
          </p:cNvPr>
          <p:cNvSpPr>
            <a:spLocks noGrp="1"/>
          </p:cNvSpPr>
          <p:nvPr>
            <p:ph type="body" sz="quarter" idx="32"/>
          </p:nvPr>
        </p:nvSpPr>
        <p:spPr/>
        <p:txBody>
          <a:bodyPr vert="horz" lIns="0" tIns="0" rIns="0" bIns="0" rtlCol="0" anchor="t">
            <a:noAutofit/>
          </a:bodyPr>
          <a:lstStyle/>
          <a:p>
            <a:r>
              <a:rPr lang="en-US">
                <a:cs typeface="Times New Roman"/>
              </a:rPr>
              <a:t>Five recommendations to meet the brand team's goals</a:t>
            </a:r>
            <a:endParaRPr lang="en-US"/>
          </a:p>
        </p:txBody>
      </p:sp>
      <p:sp>
        <p:nvSpPr>
          <p:cNvPr id="5" name="Content Placeholder 4">
            <a:extLst>
              <a:ext uri="{FF2B5EF4-FFF2-40B4-BE49-F238E27FC236}">
                <a16:creationId xmlns:a16="http://schemas.microsoft.com/office/drawing/2014/main" id="{7876E582-38FC-4992-A89A-4F92229D2697}"/>
              </a:ext>
            </a:extLst>
          </p:cNvPr>
          <p:cNvSpPr>
            <a:spLocks noGrp="1"/>
          </p:cNvSpPr>
          <p:nvPr>
            <p:ph sz="half" idx="1"/>
          </p:nvPr>
        </p:nvSpPr>
        <p:spPr/>
        <p:txBody>
          <a:bodyPr vert="horz" lIns="180000" tIns="252000" rIns="252000" bIns="0" rtlCol="0" anchor="t">
            <a:noAutofit/>
          </a:bodyPr>
          <a:lstStyle/>
          <a:p>
            <a:r>
              <a:rPr lang="en-US">
                <a:cs typeface="Times New Roman"/>
              </a:rPr>
              <a:t>L'Oréal Brand Name</a:t>
            </a:r>
          </a:p>
          <a:p>
            <a:r>
              <a:rPr lang="en-US">
                <a:cs typeface="Times New Roman"/>
              </a:rPr>
              <a:t>The Product Line</a:t>
            </a:r>
          </a:p>
          <a:p>
            <a:r>
              <a:rPr lang="en-US" err="1">
                <a:cs typeface="Times New Roman"/>
              </a:rPr>
              <a:t>Pl</a:t>
            </a:r>
            <a:r>
              <a:rPr lang="en-US" err="1">
                <a:ea typeface="+mn-lt"/>
                <a:cs typeface="+mn-lt"/>
              </a:rPr>
              <a:t>é</a:t>
            </a:r>
            <a:r>
              <a:rPr lang="en-US" err="1">
                <a:cs typeface="Times New Roman"/>
              </a:rPr>
              <a:t>nitude</a:t>
            </a:r>
            <a:r>
              <a:rPr lang="en-US">
                <a:cs typeface="Times New Roman"/>
              </a:rPr>
              <a:t> Packaging</a:t>
            </a:r>
          </a:p>
          <a:p>
            <a:r>
              <a:rPr lang="en-US">
                <a:cs typeface="Times New Roman"/>
              </a:rPr>
              <a:t>Promotional Strategies</a:t>
            </a:r>
          </a:p>
          <a:p>
            <a:r>
              <a:rPr lang="en-US">
                <a:cs typeface="Times New Roman"/>
              </a:rPr>
              <a:t>The Customer Experience</a:t>
            </a:r>
          </a:p>
          <a:p>
            <a:endParaRPr lang="en-US">
              <a:cs typeface="Times New Roman"/>
            </a:endParaRPr>
          </a:p>
        </p:txBody>
      </p:sp>
      <p:sp>
        <p:nvSpPr>
          <p:cNvPr id="6" name="Slide Number Placeholder 5">
            <a:extLst>
              <a:ext uri="{FF2B5EF4-FFF2-40B4-BE49-F238E27FC236}">
                <a16:creationId xmlns:a16="http://schemas.microsoft.com/office/drawing/2014/main" id="{723F4D7D-0397-448A-9918-A438529A2EB7}"/>
              </a:ext>
            </a:extLst>
          </p:cNvPr>
          <p:cNvSpPr>
            <a:spLocks noGrp="1"/>
          </p:cNvSpPr>
          <p:nvPr>
            <p:ph type="sldNum" sz="quarter" idx="34"/>
          </p:nvPr>
        </p:nvSpPr>
        <p:spPr/>
        <p:txBody>
          <a:bodyPr/>
          <a:lstStyle/>
          <a:p>
            <a:fld id="{19B51A1E-902D-48AF-9020-955120F399B6}" type="slidenum">
              <a:rPr lang="en-US" noProof="0" smtClean="0"/>
              <a:pPr/>
              <a:t>19</a:t>
            </a:fld>
            <a:endParaRPr lang="en-US" noProof="0"/>
          </a:p>
        </p:txBody>
      </p:sp>
    </p:spTree>
    <p:extLst>
      <p:ext uri="{BB962C8B-B14F-4D97-AF65-F5344CB8AC3E}">
        <p14:creationId xmlns:p14="http://schemas.microsoft.com/office/powerpoint/2010/main" val="1071322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64483" y="491746"/>
            <a:ext cx="6263214" cy="388868"/>
          </a:xfrm>
        </p:spPr>
        <p:txBody>
          <a:bodyPr/>
          <a:lstStyle/>
          <a:p>
            <a:pPr algn="l"/>
            <a:r>
              <a:rPr lang="en-US">
                <a:ea typeface="+mj-lt"/>
                <a:cs typeface="+mj-lt"/>
              </a:rPr>
              <a:t>L'Oréal Brand Name</a:t>
            </a:r>
            <a:endParaRPr lang="en-US" err="1"/>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4350915" cy="4875272"/>
          </a:xfrm>
        </p:spPr>
        <p:txBody>
          <a:bodyPr vert="horz" lIns="180000" tIns="252000" rIns="252000" bIns="0" rtlCol="0" anchor="t">
            <a:noAutofit/>
          </a:bodyPr>
          <a:lstStyle/>
          <a:p>
            <a:pPr marL="0" indent="0">
              <a:buNone/>
            </a:pPr>
            <a:r>
              <a:rPr lang="en-US" sz="2800">
                <a:ea typeface="+mn-lt"/>
                <a:cs typeface="+mn-lt"/>
              </a:rPr>
              <a:t>Acceptor/Rejector Studies Shows L'Oréal name means more to people </a:t>
            </a:r>
          </a:p>
          <a:p>
            <a:pPr>
              <a:buFont typeface="Arial"/>
              <a:buChar char="•"/>
            </a:pPr>
            <a:r>
              <a:rPr lang="en-US" sz="2400">
                <a:ea typeface="+mn-lt"/>
                <a:cs typeface="+mn-lt"/>
              </a:rPr>
              <a:t>"I didn't know Plénitude was the name of the brand."</a:t>
            </a:r>
            <a:endParaRPr lang="en-US"/>
          </a:p>
          <a:p>
            <a:pPr>
              <a:buFont typeface="Arial"/>
              <a:buChar char="•"/>
            </a:pPr>
            <a:r>
              <a:rPr lang="en-US" sz="2400">
                <a:ea typeface="+mn-lt"/>
                <a:cs typeface="+mn-lt"/>
              </a:rPr>
              <a:t>"Plénitude doesn't really mean anything – that could be gone and wouldn't make a difference."</a:t>
            </a:r>
          </a:p>
          <a:p>
            <a:pPr>
              <a:buNone/>
            </a:pPr>
            <a:endParaRPr lang="en-US" sz="2800">
              <a:cs typeface="Times New Roman"/>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20</a:t>
            </a:fld>
            <a:endParaRPr lang="en-US"/>
          </a:p>
        </p:txBody>
      </p:sp>
      <p:pic>
        <p:nvPicPr>
          <p:cNvPr id="11" name="Picture 11" descr="A close up of a person&#10;&#10;Description generated with very high confidence">
            <a:extLst>
              <a:ext uri="{FF2B5EF4-FFF2-40B4-BE49-F238E27FC236}">
                <a16:creationId xmlns:a16="http://schemas.microsoft.com/office/drawing/2014/main" id="{BE355515-A6C8-4A27-B3CF-14FA146C1EDA}"/>
              </a:ext>
            </a:extLst>
          </p:cNvPr>
          <p:cNvPicPr>
            <a:picLocks noGrp="1" noChangeAspect="1"/>
          </p:cNvPicPr>
          <p:nvPr>
            <p:ph type="pic" sz="quarter" idx="33"/>
          </p:nvPr>
        </p:nvPicPr>
        <p:blipFill rotWithShape="1">
          <a:blip r:embed="rId3"/>
          <a:srcRect t="85" b="10245"/>
          <a:stretch/>
        </p:blipFill>
        <p:spPr>
          <a:xfrm>
            <a:off x="9962150" y="-14222"/>
            <a:ext cx="2229850" cy="6180984"/>
          </a:xfrm>
        </p:spPr>
      </p:pic>
      <p:sp>
        <p:nvSpPr>
          <p:cNvPr id="5" name="Content Placeholder 3">
            <a:extLst>
              <a:ext uri="{FF2B5EF4-FFF2-40B4-BE49-F238E27FC236}">
                <a16:creationId xmlns:a16="http://schemas.microsoft.com/office/drawing/2014/main" id="{31C30ECB-14A7-4B24-9C0B-1492A3672826}"/>
              </a:ext>
            </a:extLst>
          </p:cNvPr>
          <p:cNvSpPr txBox="1">
            <a:spLocks/>
          </p:cNvSpPr>
          <p:nvPr/>
        </p:nvSpPr>
        <p:spPr>
          <a:xfrm>
            <a:off x="5230004" y="1296599"/>
            <a:ext cx="4624084" cy="4875272"/>
          </a:xfrm>
          <a:prstGeom prst="rect">
            <a:avLst/>
          </a:prstGeom>
          <a:solidFill>
            <a:schemeClr val="bg1"/>
          </a:solidFill>
        </p:spPr>
        <p:txBody>
          <a:bodyPr vert="horz" lIns="180000" tIns="252000" rIns="252000" bIns="0" rtlCol="0" anchor="t">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800">
                <a:ea typeface="+mn-lt"/>
                <a:cs typeface="+mn-lt"/>
              </a:rPr>
              <a:t>Deemphasizing Plénitude and Emphasizing L'Oréal</a:t>
            </a:r>
          </a:p>
          <a:p>
            <a:pPr>
              <a:buFont typeface="Arial"/>
              <a:buChar char="•"/>
            </a:pPr>
            <a:r>
              <a:rPr lang="en-US" sz="2400">
                <a:ea typeface="+mn-lt"/>
                <a:cs typeface="+mn-lt"/>
              </a:rPr>
              <a:t>L'Oréal resonates with people as innovative and high quality</a:t>
            </a:r>
          </a:p>
          <a:p>
            <a:pPr lvl="1">
              <a:buFont typeface="Arial"/>
              <a:buChar char="•"/>
            </a:pPr>
            <a:r>
              <a:rPr lang="en-US" sz="2200">
                <a:ea typeface="+mn-lt"/>
                <a:cs typeface="+mn-lt"/>
              </a:rPr>
              <a:t>"Because it's L'Oréal it will be a little more expensive, but also be better quality." </a:t>
            </a:r>
          </a:p>
          <a:p>
            <a:pPr>
              <a:buFont typeface="Arial"/>
              <a:buChar char="•"/>
            </a:pPr>
            <a:r>
              <a:rPr lang="en-US" sz="2400">
                <a:ea typeface="+mn-lt"/>
                <a:cs typeface="+mn-lt"/>
              </a:rPr>
              <a:t>Focusing on L'Oréal as the brand name could bring:</a:t>
            </a:r>
          </a:p>
          <a:p>
            <a:pPr lvl="2">
              <a:buFont typeface="Arial"/>
              <a:buChar char="•"/>
            </a:pPr>
            <a:r>
              <a:rPr lang="en-US" sz="2200">
                <a:ea typeface="+mn-lt"/>
                <a:cs typeface="+mn-lt"/>
              </a:rPr>
              <a:t>More brand recognition and understanding</a:t>
            </a:r>
          </a:p>
          <a:p>
            <a:pPr lvl="2">
              <a:buFont typeface="Arial"/>
              <a:buChar char="•"/>
            </a:pPr>
            <a:r>
              <a:rPr lang="en-US" sz="2200">
                <a:ea typeface="+mn-lt"/>
                <a:cs typeface="+mn-lt"/>
              </a:rPr>
              <a:t>Positive brand perceptions</a:t>
            </a:r>
          </a:p>
          <a:p>
            <a:pPr lvl="1">
              <a:buFont typeface="Arial"/>
              <a:buChar char="•"/>
            </a:pPr>
            <a:endParaRPr lang="en-US" sz="2200">
              <a:cs typeface="Times New Roman"/>
            </a:endParaRPr>
          </a:p>
          <a:p>
            <a:pPr>
              <a:buNone/>
            </a:pPr>
            <a:endParaRPr lang="en-US" sz="2800">
              <a:cs typeface="Times New Roman"/>
            </a:endParaRPr>
          </a:p>
        </p:txBody>
      </p:sp>
    </p:spTree>
    <p:extLst>
      <p:ext uri="{BB962C8B-B14F-4D97-AF65-F5344CB8AC3E}">
        <p14:creationId xmlns:p14="http://schemas.microsoft.com/office/powerpoint/2010/main" val="2772418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64483" y="506123"/>
            <a:ext cx="6263214" cy="388868"/>
          </a:xfrm>
        </p:spPr>
        <p:txBody>
          <a:bodyPr/>
          <a:lstStyle/>
          <a:p>
            <a:pPr algn="l"/>
            <a:r>
              <a:rPr lang="en-US">
                <a:ea typeface="+mj-lt"/>
                <a:cs typeface="+mj-lt"/>
              </a:rPr>
              <a:t>The Product Line</a:t>
            </a:r>
            <a:endParaRPr lang="en-US">
              <a:cs typeface="Arial"/>
            </a:endParaRP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6967592" cy="4659612"/>
          </a:xfrm>
        </p:spPr>
        <p:txBody>
          <a:bodyPr vert="horz" lIns="180000" tIns="252000" rIns="252000" bIns="0" rtlCol="0" anchor="t">
            <a:noAutofit/>
          </a:bodyPr>
          <a:lstStyle/>
          <a:p>
            <a:pPr marL="0" indent="0">
              <a:buNone/>
            </a:pPr>
            <a:r>
              <a:rPr lang="en-US" sz="3200">
                <a:ea typeface="+mn-lt"/>
                <a:cs typeface="+mn-lt"/>
              </a:rPr>
              <a:t>Identifying segments and developing products around them </a:t>
            </a:r>
          </a:p>
          <a:p>
            <a:pPr>
              <a:buFont typeface="Arial"/>
              <a:buChar char="•"/>
            </a:pPr>
            <a:r>
              <a:rPr lang="en-US" sz="2000">
                <a:ea typeface="+mn-lt"/>
                <a:cs typeface="+mn-lt"/>
              </a:rPr>
              <a:t>Regimens by age-group</a:t>
            </a:r>
            <a:endParaRPr lang="en-US" sz="2000">
              <a:cs typeface="Times New Roman"/>
            </a:endParaRPr>
          </a:p>
          <a:p>
            <a:pPr>
              <a:buFont typeface="Arial"/>
              <a:buChar char="•"/>
            </a:pPr>
            <a:r>
              <a:rPr lang="en-US" sz="2000">
                <a:ea typeface="+mn-lt"/>
                <a:cs typeface="+mn-lt"/>
              </a:rPr>
              <a:t>Maintain high-tech treatment products for "Stressed Out, Age-Focused" customers</a:t>
            </a:r>
            <a:endParaRPr lang="en-US" sz="2000"/>
          </a:p>
          <a:p>
            <a:pPr>
              <a:buFont typeface="Arial"/>
              <a:buChar char="•"/>
            </a:pPr>
            <a:r>
              <a:rPr lang="en-US" sz="2000">
                <a:ea typeface="+mn-lt"/>
                <a:cs typeface="+mn-lt"/>
              </a:rPr>
              <a:t>Develop a daily moisturizer and regimen specific for the 30s–40s age segment</a:t>
            </a:r>
          </a:p>
          <a:p>
            <a:pPr lvl="1">
              <a:buFont typeface="Arial"/>
              <a:buChar char="•"/>
            </a:pPr>
            <a:r>
              <a:rPr lang="en-US" sz="2000">
                <a:ea typeface="+mn-lt"/>
                <a:cs typeface="+mn-lt"/>
              </a:rPr>
              <a:t>Focus on U.S. expectations for moisturizer</a:t>
            </a:r>
            <a:endParaRPr lang="en-US" sz="2000">
              <a:cs typeface="Times New Roman"/>
            </a:endParaRPr>
          </a:p>
          <a:p>
            <a:pPr lvl="1">
              <a:buFont typeface="Arial"/>
              <a:buChar char="•"/>
            </a:pPr>
            <a:r>
              <a:rPr lang="en-US" sz="2000">
                <a:ea typeface="+mn-lt"/>
                <a:cs typeface="+mn-lt"/>
              </a:rPr>
              <a:t>Keep branding simple</a:t>
            </a:r>
          </a:p>
          <a:p>
            <a:pPr lvl="1">
              <a:buFont typeface="Arial"/>
              <a:buChar char="•"/>
            </a:pPr>
            <a:r>
              <a:rPr lang="en-US" sz="2000">
                <a:ea typeface="+mn-lt"/>
                <a:cs typeface="+mn-lt"/>
              </a:rPr>
              <a:t>Differentiate product messaging</a:t>
            </a:r>
          </a:p>
          <a:p>
            <a:pPr>
              <a:buFont typeface="Arial"/>
              <a:buChar char="•"/>
            </a:pPr>
            <a:endParaRPr lang="en-US" sz="2800">
              <a:ea typeface="+mn-lt"/>
              <a:cs typeface="+mn-lt"/>
            </a:endParaRPr>
          </a:p>
          <a:p>
            <a:pPr>
              <a:buNone/>
            </a:pPr>
            <a:endParaRPr lang="en-US" sz="2800">
              <a:ea typeface="+mn-lt"/>
              <a:cs typeface="+mn-lt"/>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21</a:t>
            </a:fld>
            <a:endParaRPr lang="en-US"/>
          </a:p>
        </p:txBody>
      </p:sp>
      <p:sp>
        <p:nvSpPr>
          <p:cNvPr id="5" name="Picture Placeholder 4">
            <a:extLst>
              <a:ext uri="{FF2B5EF4-FFF2-40B4-BE49-F238E27FC236}">
                <a16:creationId xmlns:a16="http://schemas.microsoft.com/office/drawing/2014/main" id="{B99081B5-34ED-40D4-BF99-9765C5B8E0E3}"/>
              </a:ext>
            </a:extLst>
          </p:cNvPr>
          <p:cNvSpPr>
            <a:spLocks noGrp="1"/>
          </p:cNvSpPr>
          <p:nvPr>
            <p:ph type="pic" sz="quarter" idx="33"/>
          </p:nvPr>
        </p:nvSpPr>
        <p:spPr/>
      </p:sp>
      <p:pic>
        <p:nvPicPr>
          <p:cNvPr id="7" name="Picture 6" descr="A close up of a person with his mouth open&#10;&#10;Description automatically generated">
            <a:extLst>
              <a:ext uri="{FF2B5EF4-FFF2-40B4-BE49-F238E27FC236}">
                <a16:creationId xmlns:a16="http://schemas.microsoft.com/office/drawing/2014/main" id="{A933806D-3805-4F6E-8694-1141C0F70700}"/>
              </a:ext>
            </a:extLst>
          </p:cNvPr>
          <p:cNvPicPr>
            <a:picLocks noChangeAspect="1"/>
          </p:cNvPicPr>
          <p:nvPr/>
        </p:nvPicPr>
        <p:blipFill rotWithShape="1">
          <a:blip r:embed="rId3">
            <a:extLst>
              <a:ext uri="{28A0092B-C50C-407E-A947-70E740481C1C}">
                <a14:useLocalDpi xmlns:a14="http://schemas.microsoft.com/office/drawing/2010/main" val="0"/>
              </a:ext>
            </a:extLst>
          </a:blip>
          <a:srcRect t="2794" b="1684"/>
          <a:stretch/>
        </p:blipFill>
        <p:spPr>
          <a:xfrm>
            <a:off x="9973320" y="0"/>
            <a:ext cx="2218680" cy="6219824"/>
          </a:xfrm>
          <a:prstGeom prst="rect">
            <a:avLst/>
          </a:prstGeom>
        </p:spPr>
      </p:pic>
    </p:spTree>
    <p:extLst>
      <p:ext uri="{BB962C8B-B14F-4D97-AF65-F5344CB8AC3E}">
        <p14:creationId xmlns:p14="http://schemas.microsoft.com/office/powerpoint/2010/main" val="1952593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1" descr="A close up of a person&#10;&#10;Description generated with very high confidence">
            <a:extLst>
              <a:ext uri="{FF2B5EF4-FFF2-40B4-BE49-F238E27FC236}">
                <a16:creationId xmlns:a16="http://schemas.microsoft.com/office/drawing/2014/main" id="{1CA3C593-8AA2-4179-A439-E20A5E8C83AD}"/>
              </a:ext>
            </a:extLst>
          </p:cNvPr>
          <p:cNvPicPr>
            <a:picLocks noChangeAspect="1"/>
          </p:cNvPicPr>
          <p:nvPr/>
        </p:nvPicPr>
        <p:blipFill rotWithShape="1">
          <a:blip r:embed="rId3">
            <a:extLst>
              <a:ext uri="{28A0092B-C50C-407E-A947-70E740481C1C}">
                <a14:useLocalDpi xmlns:a14="http://schemas.microsoft.com/office/drawing/2010/main" val="0"/>
              </a:ext>
            </a:extLst>
          </a:blip>
          <a:srcRect b="4948"/>
          <a:stretch/>
        </p:blipFill>
        <p:spPr>
          <a:xfrm>
            <a:off x="9959835" y="-5698"/>
            <a:ext cx="2229682" cy="6219824"/>
          </a:xfrm>
          <a:prstGeom prst="rect">
            <a:avLst/>
          </a:prstGeom>
        </p:spPr>
      </p:pic>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64483" y="506123"/>
            <a:ext cx="6263214" cy="388868"/>
          </a:xfrm>
        </p:spPr>
        <p:txBody>
          <a:bodyPr/>
          <a:lstStyle/>
          <a:p>
            <a:pPr algn="l"/>
            <a:r>
              <a:rPr lang="en-US">
                <a:ea typeface="+mj-lt"/>
                <a:cs typeface="+mj-lt"/>
              </a:rPr>
              <a:t>Packaging</a:t>
            </a:r>
            <a:endParaRPr lang="en-US">
              <a:cs typeface="Arial"/>
            </a:endParaRP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6967592" cy="4659612"/>
          </a:xfrm>
        </p:spPr>
        <p:txBody>
          <a:bodyPr vert="horz" lIns="180000" tIns="252000" rIns="252000" bIns="0" rtlCol="0" anchor="t">
            <a:noAutofit/>
          </a:bodyPr>
          <a:lstStyle/>
          <a:p>
            <a:pPr marL="0" indent="0">
              <a:buNone/>
            </a:pPr>
            <a:r>
              <a:rPr lang="en-US" sz="3200">
                <a:ea typeface="+mn-lt"/>
                <a:cs typeface="+mn-lt"/>
              </a:rPr>
              <a:t>The first impression of the products in store is overwhelming with text  </a:t>
            </a:r>
          </a:p>
          <a:p>
            <a:pPr>
              <a:buFont typeface="Arial"/>
              <a:buChar char="•"/>
            </a:pPr>
            <a:r>
              <a:rPr lang="en-US" sz="2000">
                <a:ea typeface="+mn-lt"/>
                <a:cs typeface="+mn-lt"/>
              </a:rPr>
              <a:t>Lots and lots of details on the package</a:t>
            </a:r>
          </a:p>
          <a:p>
            <a:pPr>
              <a:buFont typeface="Arial"/>
              <a:buChar char="•"/>
            </a:pPr>
            <a:r>
              <a:rPr lang="en-US" sz="2000">
                <a:ea typeface="+mn-lt"/>
                <a:cs typeface="+mn-lt"/>
              </a:rPr>
              <a:t>Shoppers could not identify the use of specific products</a:t>
            </a:r>
          </a:p>
          <a:p>
            <a:pPr marL="0" indent="0">
              <a:buNone/>
            </a:pPr>
            <a:r>
              <a:rPr lang="en-US" sz="2800">
                <a:ea typeface="+mn-lt"/>
                <a:cs typeface="+mn-lt"/>
              </a:rPr>
              <a:t>Our Recommendations  </a:t>
            </a:r>
          </a:p>
          <a:p>
            <a:pPr>
              <a:buFont typeface="Arial"/>
              <a:buChar char="•"/>
            </a:pPr>
            <a:r>
              <a:rPr lang="en-US" sz="2000">
                <a:ea typeface="+mn-lt"/>
                <a:cs typeface="+mn-lt"/>
              </a:rPr>
              <a:t>A clean front-facing package with</a:t>
            </a:r>
            <a:r>
              <a:rPr lang="en-US" sz="2000">
                <a:cs typeface="Times New Roman"/>
              </a:rPr>
              <a:t> the details on the back of the package</a:t>
            </a:r>
            <a:endParaRPr lang="en-US" sz="2000">
              <a:ea typeface="+mn-lt"/>
              <a:cs typeface="+mn-lt"/>
            </a:endParaRPr>
          </a:p>
          <a:p>
            <a:pPr>
              <a:buFont typeface="Arial"/>
              <a:buChar char="•"/>
            </a:pPr>
            <a:r>
              <a:rPr lang="en-US" sz="2000">
                <a:cs typeface="Times New Roman"/>
              </a:rPr>
              <a:t>Highlight the L'Oréal name </a:t>
            </a:r>
          </a:p>
          <a:p>
            <a:pPr>
              <a:buFont typeface="Arial"/>
              <a:buChar char="•"/>
            </a:pPr>
            <a:r>
              <a:rPr lang="en-US" sz="2000">
                <a:cs typeface="Times New Roman"/>
              </a:rPr>
              <a:t>Products with useful and clear naming conventions</a:t>
            </a:r>
            <a:endParaRPr lang="en-US" sz="2000">
              <a:ea typeface="+mn-lt"/>
              <a:cs typeface="+mn-lt"/>
            </a:endParaRPr>
          </a:p>
          <a:p>
            <a:pPr>
              <a:buNone/>
            </a:pPr>
            <a:endParaRPr lang="en-US" sz="2800">
              <a:ea typeface="+mn-lt"/>
              <a:cs typeface="+mn-lt"/>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22</a:t>
            </a:fld>
            <a:endParaRPr lang="en-US"/>
          </a:p>
        </p:txBody>
      </p:sp>
    </p:spTree>
    <p:extLst>
      <p:ext uri="{BB962C8B-B14F-4D97-AF65-F5344CB8AC3E}">
        <p14:creationId xmlns:p14="http://schemas.microsoft.com/office/powerpoint/2010/main" val="125204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64483" y="506123"/>
            <a:ext cx="6263214" cy="388868"/>
          </a:xfrm>
        </p:spPr>
        <p:txBody>
          <a:bodyPr/>
          <a:lstStyle/>
          <a:p>
            <a:pPr algn="l"/>
            <a:r>
              <a:rPr lang="en-US">
                <a:ea typeface="+mj-lt"/>
                <a:cs typeface="+mj-lt"/>
              </a:rPr>
              <a:t>Promotional Strategies</a:t>
            </a:r>
            <a:endParaRPr lang="en-US">
              <a:cs typeface="Arial"/>
            </a:endParaRP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6967592" cy="4874614"/>
          </a:xfrm>
        </p:spPr>
        <p:txBody>
          <a:bodyPr vert="horz" lIns="180000" tIns="252000" rIns="252000" bIns="0" rtlCol="0" anchor="t">
            <a:noAutofit/>
          </a:bodyPr>
          <a:lstStyle/>
          <a:p>
            <a:pPr marL="0" indent="0">
              <a:buNone/>
            </a:pPr>
            <a:r>
              <a:rPr lang="en-US" sz="3200">
                <a:ea typeface="+mn-lt"/>
                <a:cs typeface="+mn-lt"/>
              </a:rPr>
              <a:t>Increasing Awareness and Trial   </a:t>
            </a:r>
          </a:p>
          <a:p>
            <a:pPr marL="0" indent="0">
              <a:buNone/>
            </a:pPr>
            <a:r>
              <a:rPr lang="en-US" sz="2000">
                <a:ea typeface="+mn-lt"/>
                <a:cs typeface="+mn-lt"/>
              </a:rPr>
              <a:t>Of aware consumers, only 29% try </a:t>
            </a:r>
            <a:r>
              <a:rPr lang="en-US" sz="2000" err="1">
                <a:ea typeface="+mn-lt"/>
                <a:cs typeface="+mn-lt"/>
              </a:rPr>
              <a:t>Plénitude</a:t>
            </a:r>
            <a:r>
              <a:rPr lang="en-US" sz="2000">
                <a:ea typeface="+mn-lt"/>
                <a:cs typeface="+mn-lt"/>
              </a:rPr>
              <a:t>. Of those who try, only 30% become loyal users. </a:t>
            </a:r>
          </a:p>
          <a:p>
            <a:r>
              <a:rPr lang="en-US" sz="2000">
                <a:ea typeface="+mn-lt"/>
                <a:cs typeface="+mn-lt"/>
              </a:rPr>
              <a:t>Celebrity endorsements</a:t>
            </a:r>
          </a:p>
          <a:p>
            <a:pPr lvl="1"/>
            <a:r>
              <a:rPr lang="en-US" sz="1800">
                <a:ea typeface="+mn-lt"/>
                <a:cs typeface="+mn-lt"/>
              </a:rPr>
              <a:t>Continued print advertisements in beauty and lifestyle magazines</a:t>
            </a:r>
          </a:p>
          <a:p>
            <a:pPr lvl="1">
              <a:buFont typeface="Arial"/>
              <a:buChar char="•"/>
            </a:pPr>
            <a:r>
              <a:rPr lang="en-US" sz="1800">
                <a:ea typeface="+mn-lt"/>
                <a:cs typeface="+mn-lt"/>
              </a:rPr>
              <a:t>Increased television advertisements, more accessible</a:t>
            </a:r>
          </a:p>
          <a:p>
            <a:pPr>
              <a:buFont typeface="Arial"/>
              <a:buChar char="•"/>
            </a:pPr>
            <a:r>
              <a:rPr lang="en-US" sz="2000">
                <a:ea typeface="+mn-lt"/>
                <a:cs typeface="+mn-lt"/>
              </a:rPr>
              <a:t>Promoting Trial</a:t>
            </a:r>
          </a:p>
          <a:p>
            <a:pPr lvl="1">
              <a:buFont typeface="Arial"/>
              <a:buChar char="•"/>
            </a:pPr>
            <a:r>
              <a:rPr lang="en-US" sz="1800">
                <a:ea typeface="+mn-lt"/>
                <a:cs typeface="+mn-lt"/>
              </a:rPr>
              <a:t>Coupon for a Plénitude product in newspapers</a:t>
            </a:r>
          </a:p>
          <a:p>
            <a:pPr lvl="1">
              <a:buFont typeface="Arial"/>
              <a:buChar char="•"/>
            </a:pPr>
            <a:r>
              <a:rPr lang="en-US" sz="1800">
                <a:ea typeface="+mn-lt"/>
                <a:cs typeface="+mn-lt"/>
              </a:rPr>
              <a:t>Promote skincare regimes</a:t>
            </a:r>
          </a:p>
          <a:p>
            <a:pPr lvl="2">
              <a:buFont typeface="Arial"/>
              <a:buChar char="•"/>
            </a:pPr>
            <a:r>
              <a:rPr lang="en-US" sz="1800">
                <a:ea typeface="+mn-lt"/>
                <a:cs typeface="+mn-lt"/>
              </a:rPr>
              <a:t>Highlight benefits for young customers</a:t>
            </a:r>
          </a:p>
          <a:p>
            <a:pPr lvl="1">
              <a:buFont typeface="Arial"/>
              <a:buChar char="•"/>
            </a:pPr>
            <a:r>
              <a:rPr lang="en-US" sz="1800">
                <a:ea typeface="+mn-lt"/>
                <a:cs typeface="+mn-lt"/>
              </a:rPr>
              <a:t>Suggest other products on or inside Plénitude packaging</a:t>
            </a:r>
          </a:p>
          <a:p>
            <a:pPr lvl="1">
              <a:buFont typeface="Arial"/>
              <a:buChar char="•"/>
            </a:pPr>
            <a:r>
              <a:rPr lang="en-US" sz="1800">
                <a:ea typeface="+mn-lt"/>
                <a:cs typeface="+mn-lt"/>
              </a:rPr>
              <a:t>Highlighting the technological advances of Plénitude over Ponds or Olay to encourage switch</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23</a:t>
            </a:fld>
            <a:endParaRPr lang="en-US"/>
          </a:p>
        </p:txBody>
      </p:sp>
      <p:pic>
        <p:nvPicPr>
          <p:cNvPr id="7" name="Picture 6" descr="A close up of a person wearing glasses and smiling at the camera&#10;&#10;Description automatically generated">
            <a:extLst>
              <a:ext uri="{FF2B5EF4-FFF2-40B4-BE49-F238E27FC236}">
                <a16:creationId xmlns:a16="http://schemas.microsoft.com/office/drawing/2014/main" id="{FDC8882B-AFDD-4FB6-91FD-FEAF4A244530}"/>
              </a:ext>
            </a:extLst>
          </p:cNvPr>
          <p:cNvPicPr>
            <a:picLocks noChangeAspect="1"/>
          </p:cNvPicPr>
          <p:nvPr/>
        </p:nvPicPr>
        <p:blipFill rotWithShape="1">
          <a:blip r:embed="rId3">
            <a:extLst>
              <a:ext uri="{28A0092B-C50C-407E-A947-70E740481C1C}">
                <a14:useLocalDpi xmlns:a14="http://schemas.microsoft.com/office/drawing/2010/main" val="0"/>
              </a:ext>
            </a:extLst>
          </a:blip>
          <a:srcRect b="5136"/>
          <a:stretch/>
        </p:blipFill>
        <p:spPr>
          <a:xfrm>
            <a:off x="9973320" y="0"/>
            <a:ext cx="2218680" cy="6176964"/>
          </a:xfrm>
          <a:prstGeom prst="rect">
            <a:avLst/>
          </a:prstGeom>
        </p:spPr>
      </p:pic>
    </p:spTree>
    <p:extLst>
      <p:ext uri="{BB962C8B-B14F-4D97-AF65-F5344CB8AC3E}">
        <p14:creationId xmlns:p14="http://schemas.microsoft.com/office/powerpoint/2010/main" val="1772544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64483" y="506123"/>
            <a:ext cx="6263214" cy="388868"/>
          </a:xfrm>
        </p:spPr>
        <p:txBody>
          <a:bodyPr/>
          <a:lstStyle/>
          <a:p>
            <a:pPr algn="l"/>
            <a:r>
              <a:rPr lang="en-US">
                <a:ea typeface="+mj-lt"/>
                <a:cs typeface="+mj-lt"/>
              </a:rPr>
              <a:t>Customer Experience</a:t>
            </a:r>
            <a:endParaRPr lang="en-US">
              <a:cs typeface="Arial"/>
            </a:endParaRP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4397" y="1302350"/>
            <a:ext cx="6967592" cy="4874614"/>
          </a:xfrm>
        </p:spPr>
        <p:txBody>
          <a:bodyPr vert="horz" lIns="180000" tIns="252000" rIns="252000" bIns="0" rtlCol="0" anchor="t">
            <a:noAutofit/>
          </a:bodyPr>
          <a:lstStyle/>
          <a:p>
            <a:pPr marL="0" indent="0">
              <a:buNone/>
            </a:pPr>
            <a:r>
              <a:rPr lang="en-US" sz="3200">
                <a:ea typeface="+mn-lt"/>
                <a:cs typeface="+mn-lt"/>
              </a:rPr>
              <a:t>Class to Mass: Making Department Store Quality Accessible   </a:t>
            </a:r>
          </a:p>
          <a:p>
            <a:r>
              <a:rPr lang="en-US" sz="2000">
                <a:ea typeface="+mn-lt"/>
                <a:cs typeface="+mn-lt"/>
              </a:rPr>
              <a:t>How will we inform without overwhelming at point of sale?</a:t>
            </a:r>
          </a:p>
          <a:p>
            <a:pPr lvl="1"/>
            <a:r>
              <a:rPr lang="en-US" sz="2000">
                <a:ea typeface="+mn-lt"/>
                <a:cs typeface="+mn-lt"/>
              </a:rPr>
              <a:t>Emphasizing the L'Oréal name for perceived quality</a:t>
            </a:r>
          </a:p>
          <a:p>
            <a:pPr lvl="1"/>
            <a:r>
              <a:rPr lang="en-US" sz="2000">
                <a:ea typeface="+mn-lt"/>
                <a:cs typeface="+mn-lt"/>
              </a:rPr>
              <a:t>Product regimens with easy-to-follow guidelines for specific ages, promoting these regimens in our advertising</a:t>
            </a:r>
          </a:p>
          <a:p>
            <a:pPr lvl="1"/>
            <a:r>
              <a:rPr lang="en-US" sz="2000">
                <a:ea typeface="+mn-lt"/>
                <a:cs typeface="+mn-lt"/>
              </a:rPr>
              <a:t>Updated packaging</a:t>
            </a:r>
          </a:p>
          <a:p>
            <a:r>
              <a:rPr lang="en-US" sz="2000">
                <a:ea typeface="+mn-lt"/>
                <a:cs typeface="+mn-lt"/>
              </a:rPr>
              <a:t>Accessibility is key</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a:lstStyle/>
          <a:p>
            <a:fld id="{19B51A1E-902D-48AF-9020-955120F399B6}" type="slidenum">
              <a:rPr lang="en-US" smtClean="0"/>
              <a:pPr/>
              <a:t>24</a:t>
            </a:fld>
            <a:endParaRPr lang="en-US"/>
          </a:p>
        </p:txBody>
      </p:sp>
      <p:pic>
        <p:nvPicPr>
          <p:cNvPr id="5" name="Picture 4" descr="A close up of a person wearing glasses&#10;&#10;Description automatically generated">
            <a:extLst>
              <a:ext uri="{FF2B5EF4-FFF2-40B4-BE49-F238E27FC236}">
                <a16:creationId xmlns:a16="http://schemas.microsoft.com/office/drawing/2014/main" id="{C2EC62E5-6257-4B65-A257-13C056BA172C}"/>
              </a:ext>
            </a:extLst>
          </p:cNvPr>
          <p:cNvPicPr>
            <a:picLocks noChangeAspect="1"/>
          </p:cNvPicPr>
          <p:nvPr/>
        </p:nvPicPr>
        <p:blipFill rotWithShape="1">
          <a:blip r:embed="rId3">
            <a:extLst>
              <a:ext uri="{28A0092B-C50C-407E-A947-70E740481C1C}">
                <a14:useLocalDpi xmlns:a14="http://schemas.microsoft.com/office/drawing/2010/main" val="0"/>
              </a:ext>
            </a:extLst>
          </a:blip>
          <a:srcRect b="5136"/>
          <a:stretch/>
        </p:blipFill>
        <p:spPr>
          <a:xfrm>
            <a:off x="9973320" y="-1"/>
            <a:ext cx="2218680" cy="6176965"/>
          </a:xfrm>
          <a:prstGeom prst="rect">
            <a:avLst/>
          </a:prstGeom>
        </p:spPr>
      </p:pic>
    </p:spTree>
    <p:extLst>
      <p:ext uri="{BB962C8B-B14F-4D97-AF65-F5344CB8AC3E}">
        <p14:creationId xmlns:p14="http://schemas.microsoft.com/office/powerpoint/2010/main" val="817631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p:txBody>
          <a:bodyPr/>
          <a:lstStyle/>
          <a:p>
            <a:r>
              <a:rPr lang="en-US"/>
              <a:t>THANK YOU</a:t>
            </a:r>
          </a:p>
        </p:txBody>
      </p:sp>
      <p:sp>
        <p:nvSpPr>
          <p:cNvPr id="4" name="Text Placeholder 3">
            <a:extLst>
              <a:ext uri="{FF2B5EF4-FFF2-40B4-BE49-F238E27FC236}">
                <a16:creationId xmlns:a16="http://schemas.microsoft.com/office/drawing/2014/main" id="{60828E04-9C2A-4859-8050-C2DF67A249CB}"/>
              </a:ext>
            </a:extLst>
          </p:cNvPr>
          <p:cNvSpPr>
            <a:spLocks noGrp="1"/>
          </p:cNvSpPr>
          <p:nvPr>
            <p:ph type="body" sz="quarter" idx="15"/>
          </p:nvPr>
        </p:nvSpPr>
        <p:spPr>
          <a:xfrm>
            <a:off x="2174361" y="4035727"/>
            <a:ext cx="3329850" cy="1816433"/>
          </a:xfrm>
        </p:spPr>
        <p:txBody>
          <a:bodyPr vert="horz" lIns="0" tIns="0" rIns="0" bIns="0" rtlCol="0" anchor="t">
            <a:noAutofit/>
          </a:bodyPr>
          <a:lstStyle/>
          <a:p>
            <a:r>
              <a:rPr lang="en-US"/>
              <a:t>Jordan </a:t>
            </a:r>
            <a:r>
              <a:rPr lang="en-US" err="1"/>
              <a:t>Borkland</a:t>
            </a:r>
            <a:br>
              <a:rPr lang="en-US"/>
            </a:br>
            <a:r>
              <a:rPr lang="en-US"/>
              <a:t>Vinay Gandhi</a:t>
            </a:r>
            <a:br>
              <a:rPr lang="en-US"/>
            </a:br>
            <a:r>
              <a:rPr lang="en-US"/>
              <a:t>Jocelyn Green</a:t>
            </a:r>
            <a:br>
              <a:rPr lang="en-US"/>
            </a:br>
            <a:r>
              <a:rPr lang="en-US"/>
              <a:t>Matthew </a:t>
            </a:r>
            <a:r>
              <a:rPr lang="en-US" err="1"/>
              <a:t>Kopyt</a:t>
            </a:r>
            <a:br>
              <a:rPr lang="en-US"/>
            </a:br>
            <a:r>
              <a:rPr lang="en-US"/>
              <a:t>Katie Marquardt</a:t>
            </a:r>
            <a:endParaRPr lang="en-US" sz="2000" b="1" spc="-100">
              <a:latin typeface="Corbel" panose="020B0503020204020204" pitchFamily="34" charset="0"/>
            </a:endParaRPr>
          </a:p>
        </p:txBody>
      </p:sp>
      <p:pic>
        <p:nvPicPr>
          <p:cNvPr id="9" name="Graphic 8" descr="Envelope" title="Icon Presenter Email">
            <a:extLst>
              <a:ext uri="{FF2B5EF4-FFF2-40B4-BE49-F238E27FC236}">
                <a16:creationId xmlns:a16="http://schemas.microsoft.com/office/drawing/2014/main" id="{773C1382-ACE1-460F-A1B6-AB761A7D2E6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66191" y="4114832"/>
            <a:ext cx="218900" cy="218900"/>
          </a:xfrm>
          <a:prstGeom prst="rect">
            <a:avLst/>
          </a:prstGeom>
        </p:spPr>
      </p:pic>
      <p:sp>
        <p:nvSpPr>
          <p:cNvPr id="6" name="Text Placeholder 5">
            <a:extLst>
              <a:ext uri="{FF2B5EF4-FFF2-40B4-BE49-F238E27FC236}">
                <a16:creationId xmlns:a16="http://schemas.microsoft.com/office/drawing/2014/main" id="{50A3BCC3-A277-4C0B-9EBA-EB53990D8EBD}"/>
              </a:ext>
            </a:extLst>
          </p:cNvPr>
          <p:cNvSpPr>
            <a:spLocks noGrp="1"/>
          </p:cNvSpPr>
          <p:nvPr>
            <p:ph type="body" sz="quarter" idx="17"/>
          </p:nvPr>
        </p:nvSpPr>
        <p:spPr>
          <a:xfrm>
            <a:off x="6045409" y="4118900"/>
            <a:ext cx="2910342" cy="238016"/>
          </a:xfrm>
        </p:spPr>
        <p:txBody>
          <a:bodyPr/>
          <a:lstStyle/>
          <a:p>
            <a:r>
              <a:rPr lang="en-US"/>
              <a:t>jeb475@drexel.edu</a:t>
            </a:r>
          </a:p>
        </p:txBody>
      </p:sp>
      <p:sp>
        <p:nvSpPr>
          <p:cNvPr id="22" name="TextBox 21">
            <a:extLst>
              <a:ext uri="{FF2B5EF4-FFF2-40B4-BE49-F238E27FC236}">
                <a16:creationId xmlns:a16="http://schemas.microsoft.com/office/drawing/2014/main" id="{19352CF6-0F22-45A8-B28B-37FAFCE5C5D6}"/>
              </a:ext>
            </a:extLst>
          </p:cNvPr>
          <p:cNvSpPr txBox="1"/>
          <p:nvPr/>
        </p:nvSpPr>
        <p:spPr>
          <a:xfrm>
            <a:off x="10251642" y="182562"/>
            <a:ext cx="1662546" cy="404658"/>
          </a:xfrm>
          <a:prstGeom prst="rect">
            <a:avLst/>
          </a:prstGeom>
          <a:noFill/>
        </p:spPr>
        <p:txBody>
          <a:bodyPr wrap="square" lIns="0" tIns="36000" rIns="0" bIns="0" rtlCol="0">
            <a:spAutoFit/>
          </a:bodyPr>
          <a:lstStyle/>
          <a:p>
            <a:pPr algn="r">
              <a:lnSpc>
                <a:spcPts val="1400"/>
              </a:lnSpc>
            </a:pPr>
            <a:r>
              <a:rPr lang="en-US" sz="1600" b="1" spc="-100">
                <a:solidFill>
                  <a:schemeClr val="tx1">
                    <a:lumMod val="50000"/>
                    <a:lumOff val="50000"/>
                  </a:schemeClr>
                </a:solidFill>
                <a:latin typeface="Corbel" panose="020B0503020204020204" pitchFamily="34" charset="0"/>
              </a:rPr>
              <a:t>L'Oréal of Paris</a:t>
            </a:r>
            <a:br>
              <a:rPr lang="en-US" sz="1600" b="1" spc="-100">
                <a:solidFill>
                  <a:schemeClr val="tx1">
                    <a:lumMod val="50000"/>
                    <a:lumOff val="50000"/>
                  </a:schemeClr>
                </a:solidFill>
                <a:latin typeface="Corbel" panose="020B0503020204020204" pitchFamily="34" charset="0"/>
              </a:rPr>
            </a:br>
            <a:r>
              <a:rPr lang="en-US" sz="1600" b="1" spc="-100" baseline="0">
                <a:solidFill>
                  <a:schemeClr val="accent1"/>
                </a:solidFill>
                <a:latin typeface="Corbel" panose="020B0503020204020204" pitchFamily="34" charset="0"/>
              </a:rPr>
              <a:t> </a:t>
            </a:r>
            <a:r>
              <a:rPr lang="en-US" sz="1600" b="1" spc="-100" err="1">
                <a:latin typeface="Corbel" panose="020B0503020204020204" pitchFamily="34" charset="0"/>
              </a:rPr>
              <a:t>Plénitude</a:t>
            </a:r>
            <a:endParaRPr lang="en-US" sz="1600" b="1" spc="-100" baseline="0">
              <a:solidFill>
                <a:schemeClr val="tx1"/>
              </a:solidFill>
              <a:latin typeface="Corbel" panose="020B0503020204020204" pitchFamily="34" charset="0"/>
            </a:endParaRPr>
          </a:p>
        </p:txBody>
      </p:sp>
      <p:sp>
        <p:nvSpPr>
          <p:cNvPr id="12" name="Slide Number Placeholder 11">
            <a:extLst>
              <a:ext uri="{FF2B5EF4-FFF2-40B4-BE49-F238E27FC236}">
                <a16:creationId xmlns:a16="http://schemas.microsoft.com/office/drawing/2014/main" id="{91814EC9-246A-4C6E-941E-5774FE72F08E}"/>
              </a:ext>
            </a:extLst>
          </p:cNvPr>
          <p:cNvSpPr>
            <a:spLocks noGrp="1"/>
          </p:cNvSpPr>
          <p:nvPr>
            <p:ph type="sldNum" sz="quarter" idx="4294967295"/>
          </p:nvPr>
        </p:nvSpPr>
        <p:spPr>
          <a:xfrm>
            <a:off x="11914188" y="6402388"/>
            <a:ext cx="277812" cy="273050"/>
          </a:xfrm>
        </p:spPr>
        <p:txBody>
          <a:bodyPr/>
          <a:lstStyle/>
          <a:p>
            <a:fld id="{19B51A1E-902D-48AF-9020-955120F399B6}" type="slidenum">
              <a:rPr lang="en-US" smtClean="0"/>
              <a:pPr/>
              <a:t>25</a:t>
            </a:fld>
            <a:endParaRPr lang="en-US"/>
          </a:p>
        </p:txBody>
      </p:sp>
      <p:pic>
        <p:nvPicPr>
          <p:cNvPr id="16" name="Graphic 15" descr="Envelope" title="Icon Presenter Email">
            <a:extLst>
              <a:ext uri="{FF2B5EF4-FFF2-40B4-BE49-F238E27FC236}">
                <a16:creationId xmlns:a16="http://schemas.microsoft.com/office/drawing/2014/main" id="{D4B856CD-7FE7-438B-9FE6-ABCE87EC5CF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66191" y="4426077"/>
            <a:ext cx="218900" cy="218900"/>
          </a:xfrm>
          <a:prstGeom prst="rect">
            <a:avLst/>
          </a:prstGeom>
        </p:spPr>
      </p:pic>
      <p:sp>
        <p:nvSpPr>
          <p:cNvPr id="17" name="Text Placeholder 5">
            <a:extLst>
              <a:ext uri="{FF2B5EF4-FFF2-40B4-BE49-F238E27FC236}">
                <a16:creationId xmlns:a16="http://schemas.microsoft.com/office/drawing/2014/main" id="{AC44F9EF-9176-45FA-AC28-0B30EFD693C7}"/>
              </a:ext>
            </a:extLst>
          </p:cNvPr>
          <p:cNvSpPr txBox="1">
            <a:spLocks/>
          </p:cNvSpPr>
          <p:nvPr/>
        </p:nvSpPr>
        <p:spPr>
          <a:xfrm>
            <a:off x="6045409" y="4430145"/>
            <a:ext cx="2910342" cy="238016"/>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i="1"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vg443@drexel.edu</a:t>
            </a:r>
          </a:p>
        </p:txBody>
      </p:sp>
      <p:pic>
        <p:nvPicPr>
          <p:cNvPr id="18" name="Graphic 17" descr="Envelope" title="Icon Presenter Email">
            <a:extLst>
              <a:ext uri="{FF2B5EF4-FFF2-40B4-BE49-F238E27FC236}">
                <a16:creationId xmlns:a16="http://schemas.microsoft.com/office/drawing/2014/main" id="{BCA6BF3F-F41F-411A-A17E-F88320BF1C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66191" y="4756960"/>
            <a:ext cx="218900" cy="218900"/>
          </a:xfrm>
          <a:prstGeom prst="rect">
            <a:avLst/>
          </a:prstGeom>
        </p:spPr>
      </p:pic>
      <p:sp>
        <p:nvSpPr>
          <p:cNvPr id="19" name="Text Placeholder 5">
            <a:extLst>
              <a:ext uri="{FF2B5EF4-FFF2-40B4-BE49-F238E27FC236}">
                <a16:creationId xmlns:a16="http://schemas.microsoft.com/office/drawing/2014/main" id="{15F343A9-D2CF-470E-80A5-BBC6B01996FB}"/>
              </a:ext>
            </a:extLst>
          </p:cNvPr>
          <p:cNvSpPr txBox="1">
            <a:spLocks/>
          </p:cNvSpPr>
          <p:nvPr/>
        </p:nvSpPr>
        <p:spPr>
          <a:xfrm>
            <a:off x="6045409" y="4761028"/>
            <a:ext cx="2910342" cy="23801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i="1"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jg3675@drexel.edu</a:t>
            </a:r>
          </a:p>
        </p:txBody>
      </p:sp>
      <p:pic>
        <p:nvPicPr>
          <p:cNvPr id="23" name="Graphic 22" descr="Envelope" title="Icon Presenter Email">
            <a:extLst>
              <a:ext uri="{FF2B5EF4-FFF2-40B4-BE49-F238E27FC236}">
                <a16:creationId xmlns:a16="http://schemas.microsoft.com/office/drawing/2014/main" id="{96C4D081-483C-4C7C-A889-BF7C520EB6C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68982" y="5102297"/>
            <a:ext cx="218900" cy="218900"/>
          </a:xfrm>
          <a:prstGeom prst="rect">
            <a:avLst/>
          </a:prstGeom>
        </p:spPr>
      </p:pic>
      <p:sp>
        <p:nvSpPr>
          <p:cNvPr id="24" name="Text Placeholder 5">
            <a:extLst>
              <a:ext uri="{FF2B5EF4-FFF2-40B4-BE49-F238E27FC236}">
                <a16:creationId xmlns:a16="http://schemas.microsoft.com/office/drawing/2014/main" id="{F3746F51-8A09-4409-A111-D18ED92FA3B2}"/>
              </a:ext>
            </a:extLst>
          </p:cNvPr>
          <p:cNvSpPr txBox="1">
            <a:spLocks/>
          </p:cNvSpPr>
          <p:nvPr/>
        </p:nvSpPr>
        <p:spPr>
          <a:xfrm>
            <a:off x="6048200" y="5106365"/>
            <a:ext cx="2910342" cy="23801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i="1"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mtk57@drexel.edu</a:t>
            </a:r>
          </a:p>
        </p:txBody>
      </p:sp>
      <p:pic>
        <p:nvPicPr>
          <p:cNvPr id="25" name="Graphic 24" descr="Envelope" title="Icon Presenter Email">
            <a:extLst>
              <a:ext uri="{FF2B5EF4-FFF2-40B4-BE49-F238E27FC236}">
                <a16:creationId xmlns:a16="http://schemas.microsoft.com/office/drawing/2014/main" id="{C63A8FEF-73A8-46BE-8967-59E1A9DA9AF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83050" y="5442986"/>
            <a:ext cx="218900" cy="218900"/>
          </a:xfrm>
          <a:prstGeom prst="rect">
            <a:avLst/>
          </a:prstGeom>
        </p:spPr>
      </p:pic>
      <p:sp>
        <p:nvSpPr>
          <p:cNvPr id="26" name="Text Placeholder 5">
            <a:extLst>
              <a:ext uri="{FF2B5EF4-FFF2-40B4-BE49-F238E27FC236}">
                <a16:creationId xmlns:a16="http://schemas.microsoft.com/office/drawing/2014/main" id="{846F6973-F43E-4B52-BB49-3D0C97240FFB}"/>
              </a:ext>
            </a:extLst>
          </p:cNvPr>
          <p:cNvSpPr txBox="1">
            <a:spLocks/>
          </p:cNvSpPr>
          <p:nvPr/>
        </p:nvSpPr>
        <p:spPr>
          <a:xfrm>
            <a:off x="6062268" y="5447054"/>
            <a:ext cx="2910342" cy="23801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i="1"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krm342@drexel.edu</a:t>
            </a:r>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Office Theme">
  <a:themeElements>
    <a:clrScheme name="Custom 134">
      <a:dk1>
        <a:srgbClr val="000000"/>
      </a:dk1>
      <a:lt1>
        <a:srgbClr val="FFFFFF"/>
      </a:lt1>
      <a:dk2>
        <a:srgbClr val="000000"/>
      </a:dk2>
      <a:lt2>
        <a:srgbClr val="FFFFFF"/>
      </a:lt2>
      <a:accent1>
        <a:srgbClr val="5CB8B3"/>
      </a:accent1>
      <a:accent2>
        <a:srgbClr val="F5D66E"/>
      </a:accent2>
      <a:accent3>
        <a:srgbClr val="D78189"/>
      </a:accent3>
      <a:accent4>
        <a:srgbClr val="7030A0"/>
      </a:accent4>
      <a:accent5>
        <a:srgbClr val="0070C0"/>
      </a:accent5>
      <a:accent6>
        <a:srgbClr val="C4D36D"/>
      </a:accent6>
      <a:hlink>
        <a:srgbClr val="54C3BD"/>
      </a:hlink>
      <a:folHlink>
        <a:srgbClr val="54C3BD"/>
      </a:folHlink>
    </a:clrScheme>
    <a:fontScheme name="Custom 154">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C84B30EC-0085-4B02-B549-85261AA7A7FD}" vid="{B38EAA63-7B49-47D5-A9B8-CCF1CC9145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e6a08829-d19d-4ced-ae4f-4ba759af8f2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BB3CFF6906B2438679BA05ACAD730E" ma:contentTypeVersion="13" ma:contentTypeDescription="Create a new document." ma:contentTypeScope="" ma:versionID="5f68f024c43cbed4a76cc4ef5276cfbf">
  <xsd:schema xmlns:xsd="http://www.w3.org/2001/XMLSchema" xmlns:xs="http://www.w3.org/2001/XMLSchema" xmlns:p="http://schemas.microsoft.com/office/2006/metadata/properties" xmlns:ns3="e6a08829-d19d-4ced-ae4f-4ba759af8f2a" xmlns:ns4="c0b8e781-10fd-4c8c-9214-20fb5dce8cff" targetNamespace="http://schemas.microsoft.com/office/2006/metadata/properties" ma:root="true" ma:fieldsID="72696e6eeb3471edb3532a8d575c5987" ns3:_="" ns4:_="">
    <xsd:import namespace="e6a08829-d19d-4ced-ae4f-4ba759af8f2a"/>
    <xsd:import namespace="c0b8e781-10fd-4c8c-9214-20fb5dce8cf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4:SharedWithUsers" minOccurs="0"/>
                <xsd:element ref="ns4:SharedWithDetails" minOccurs="0"/>
                <xsd:element ref="ns4:SharingHintHash"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a08829-d19d-4ced-ae4f-4ba759af8f2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b8e781-10fd-4c8c-9214-20fb5dce8cf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19935D-ADE6-42ED-B568-839405AD6ABE}">
  <ds:schemaRefs>
    <ds:schemaRef ds:uri="http://schemas.microsoft.com/office/2006/metadata/properties"/>
    <ds:schemaRef ds:uri="http://schemas.microsoft.com/office/infopath/2007/PartnerControls"/>
    <ds:schemaRef ds:uri="e6a08829-d19d-4ced-ae4f-4ba759af8f2a"/>
  </ds:schemaRefs>
</ds:datastoreItem>
</file>

<file path=customXml/itemProps2.xml><?xml version="1.0" encoding="utf-8"?>
<ds:datastoreItem xmlns:ds="http://schemas.openxmlformats.org/officeDocument/2006/customXml" ds:itemID="{8BF01CB2-D772-4C65-9CBB-91A935E0E5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a08829-d19d-4ced-ae4f-4ba759af8f2a"/>
    <ds:schemaRef ds:uri="c0b8e781-10fd-4c8c-9214-20fb5dce8c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1D8AE1-AF50-4238-9545-788684540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Minimalist color presentation</Template>
  <Application>Microsoft Office PowerPoint</Application>
  <PresentationFormat>Widescreen</PresentationFormat>
  <Slides>25</Slides>
  <Notes>20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L’Oréal of Paris</vt:lpstr>
      <vt:lpstr>Introduction</vt:lpstr>
      <vt:lpstr>About L'Oréal of Paris</vt:lpstr>
      <vt:lpstr>L'Oréal Plénitude in France</vt:lpstr>
      <vt:lpstr>L'Oréal Plénitude Entry in the U.S.</vt:lpstr>
      <vt:lpstr>L'Oréal Plénitude Wrinkle Defense Cream</vt:lpstr>
      <vt:lpstr>PLÉNITUDE GOALS IN THE US</vt:lpstr>
      <vt:lpstr>Situational Analysis</vt:lpstr>
      <vt:lpstr>Competition</vt:lpstr>
      <vt:lpstr>Market Size and Brand Share</vt:lpstr>
      <vt:lpstr>Market Size and Brand Share</vt:lpstr>
      <vt:lpstr>Brand Development</vt:lpstr>
      <vt:lpstr>Three Types of Studies</vt:lpstr>
      <vt:lpstr>Qualitative study: acceptors and rejectors</vt:lpstr>
      <vt:lpstr>Plénitude self-shopping study</vt:lpstr>
      <vt:lpstr>Perceptions of the plénitude brand</vt:lpstr>
      <vt:lpstr>Segmenting</vt:lpstr>
      <vt:lpstr>The  Plénitude Plan</vt:lpstr>
      <vt:lpstr>Our Recommendations</vt:lpstr>
      <vt:lpstr>L'Oréal Brand Name</vt:lpstr>
      <vt:lpstr>The Product Line</vt:lpstr>
      <vt:lpstr>Packaging</vt:lpstr>
      <vt:lpstr>Promotional Strategies</vt:lpstr>
      <vt:lpstr>Customer Experience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L’Oréal of PAris</dc:title>
  <dc:creator/>
  <cp:revision>3</cp:revision>
  <dcterms:created xsi:type="dcterms:W3CDTF">2020-02-15T23:05:24Z</dcterms:created>
  <dcterms:modified xsi:type="dcterms:W3CDTF">2020-02-26T22:30:01Z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0x010100BCBB3CFF6906B2438679BA05ACAD730E</vt:lpwstr>
  </property>
</Properties>
</file>